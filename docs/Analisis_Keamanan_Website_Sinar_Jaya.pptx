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2e14a5d5-c41e-2275-43ee-3a74cfb6a032}">
          <p14:sldIdLst>
            <p14:sldId id="256"/>
          </p14:sldIdLst>
        </p14:section>
        <p14:section name="Pendahuluan" id="{07bbcdb1-c293-ba2f-eb52-7c4a36998721}">
          <p14:sldIdLst>
            <p14:sldId id="257"/>
            <p14:sldId id="258"/>
            <p14:sldId id="259"/>
          </p14:sldIdLst>
        </p14:section>
        <p14:section name="Temuan" id="{4acbc298-df3b-4f4b-da01-6537c28c9dda}">
          <p14:sldIdLst>
            <p14:sldId id="260"/>
            <p14:sldId id="261"/>
            <p14:sldId id="262"/>
            <p14:sldId id="263"/>
            <p14:sldId id="264"/>
          </p14:sldIdLst>
        </p14:section>
        <p14:section name="Perbaikan" id="{3cfc39a1-c682-5893-9632-7aab28d82b5f}">
          <p14:sldIdLst>
            <p14:sldId id="265"/>
            <p14:sldId id="266"/>
          </p14:sldIdLst>
        </p14:section>
        <p14:section name="Penutup" id="{ccb71767-e45d-6364-c8f5-05bda693fc05}">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7"/>
                </a:solidFill>
                <a:latin typeface="+mn-lt"/>
              </a:defRPr>
            </a:pPr>
            <a:r>
              <a:rPr sz="1400" b="0" i="0" u="none" strike="noStrike">
                <a:solidFill>
                  <a:srgbClr val="1F2A37"/>
                </a:solidFill>
                <a:latin typeface="+mn-lt"/>
              </a:rPr>
              <a:t>Header keamanan terpasang (dari 6)</a:t>
            </a:r>
          </a:p>
        </c:rich>
      </c:tx>
      <c:layout/>
      <c:overlay val="0"/>
    </c:title>
    <c:autoTitleDeleted val="0"/>
    <c:plotArea>
      <c:layout/>
      <c:barChart>
        <c:barDir val="col"/>
        <c:grouping val="clustered"/>
        <c:varyColors val="0"/>
        <c:ser>
          <c:idx val="0"/>
          <c:order val="0"/>
          <c:tx>
            <c:strRef>
              <c:f>Sheet1!$B$1</c:f>
              <c:strCache>
                <c:ptCount val="1"/>
                <c:pt idx="0">
                  <c:v>Header terpasang</c:v>
                </c:pt>
              </c:strCache>
            </c:strRef>
          </c:tx>
          <c:spPr>
            <a:solidFill>
              <a:srgbClr val="0E7C73"/>
            </a:solidFill>
            <a:effectLst/>
          </c:spPr>
          <c:invertIfNegative val="0"/>
          <c:dLbls>
            <c:numFmt formatCode="#,##0" sourceLinked="0"/>
            <c:txPr>
              <a:bodyPr/>
              <a:lstStyle/>
              <a:p>
                <a:pPr>
                  <a:defRPr b="0" i="0" strike="noStrike" sz="1400" u="none">
                    <a:solidFill>
                      <a:srgbClr val="1F2A37"/>
                    </a:solidFill>
                    <a:latin typeface="+mn-lt"/>
                  </a:defRPr>
                </a:pPr>
              </a:p>
            </c:txPr>
            <c:showLegendKey val="0"/>
            <c:showVal val="1"/>
            <c:showCatName val="0"/>
            <c:showSerName val="0"/>
            <c:showPercent val="0"/>
            <c:showBubbleSize val="0"/>
            <c:showLeaderLines val="0"/>
          </c:dLbls>
          <c:dPt>
            <c:idx val="0"/>
            <c:invertIfNegative val="0"/>
            <c:bubble3D val="0"/>
            <c:spPr>
              <a:solidFill>
                <a:srgbClr val="0E7C73"/>
              </a:solidFill>
              <a:effectLst/>
            </c:spPr>
          </c:dPt>
          <c:dPt>
            <c:idx val="1"/>
            <c:invertIfNegative val="0"/>
            <c:bubble3D val="0"/>
            <c:spPr>
              <a:solidFill>
                <a:srgbClr val="0E7C73"/>
              </a:solidFill>
              <a:effectLst/>
            </c:spPr>
          </c:dPt>
          <c:cat>
            <c:multiLvlStrRef>
              <c:f>Sheet1!$A$2:$A$3</c:f>
              <c:multiLvlStrCache>
                <c:ptCount val="2"/>
                <c:lvl>
                  <c:pt idx="0">
                    <c:v>Sebelum</c:v>
                  </c:pt>
                  <c:pt idx="1">
                    <c:v>Sesudah</c:v>
                  </c:pt>
                </c:lvl>
              </c:multiLvlStrCache>
            </c:multiLvlStrRef>
          </c:cat>
          <c:val>
            <c:numRef>
              <c:f>Sheet1!$B$2:$B$3</c:f>
              <c:numCache>
                <c:formatCode>General</c:formatCode>
                <c:ptCount val="2"/>
                <c:pt idx="0">
                  <c:v>0</c:v>
                </c:pt>
                <c:pt idx="1">
                  <c:v>5</c:v>
                </c:pt>
              </c:numCache>
            </c:numRef>
          </c:val>
        </c:ser>
        <c:dLbls>
          <c:numFmt formatCode="#,##0" sourceLinked="0"/>
          <c:txPr>
            <a:bodyPr/>
            <a:lstStyle/>
            <a:p>
              <a:pPr>
                <a:defRPr b="0" i="0" strike="noStrike" sz="1400" u="none">
                  <a:solidFill>
                    <a:srgbClr val="1F2A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A37"/>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6350" cap="flat">
              <a:solidFill>
                <a:srgbClr val="E6EA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B"/>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[pagi/siang/sore], Bapak dan Ibu pembimbing. Perkenalkan, nama saya [Nama Lengkap Peserta], mahasiswa [Nama Kampus], yang melaksanakan magang sebagai Data Analyst di PT. Konsultan Inovasi Digital. Pada kesempatan ini saya akan mempresentasikan hasil analisis kerentanan dan keamanan website yang telah saya kembangkan, yaitu Dashboard Analitik Toko Bangunan Sinar Jaya. Dashboard ini sebelumnya sudah saya selesaikan fitur analitiknya, dan sudah dapat diakses publik melalui hosting. Karena itu, langkah yang wajar berikutnya adalah memastikan website tersebut aman. Presentasi ini akan membahas temuan kerentanan, dampak risikonya, solusi perbaikan, serta kesimpulan dan rekomendasi. Estimasi durasinya sekitar dua belas hingga tiga belas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 mulai dari latar belakang dan tujuan. Sebuah website yang menampilkan data penjualan, stok, dan pelanggan memuat informasi yang berharga bagi pemilik usaha. Apabila website tersebut tidak aman, informasi itu dapat bocor, disalahgunakan, atau layanannya dapat terganggu. Karena itu analisis ini memiliki tiga tujuan. Pertama, mengidentifikasi kerentanan yang ada. Kedua, menilai dampak risikonya bagi pemilik toko. Ketiga, memberikan perbaikan dan rekomendasi yang dapat ditindaklanjuti. Sebagai ringkasan eksekutif, saya menemukan delapan temuan, terdiri dari empat berkategori sedang dan empat berkategori rendah. Tidak ada temuan kritis maupun tinggi pada pengujian yang saya lakukan. Sebagian temuan sudah saya perbaiki langsung di kode, dan sisanya saya tuangkan sebagai rekomendasi. Dengan demikian, hasil analisis ini diharapkan membantu pemilik toko mengambil keputusan yang tepat mengenai pengamanan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Mengenai ruang lingkup dan metodologi, analisis saya lakukan dengan tiga pendekatan. Pendekatan pertama adalah tinjauan kode secara manual, yaitu membaca file aplikasi, konfigurasi, skrip ekspor data, dan templat halaman untuk mencari praktik yang berisiko. Pendekatan kedua adalah pengujian dinamis di lingkungan lokal. Di sini saya memeriksa header keamanan, mencoba injeksi SQL, mencoba cross-site scripting, mencoba mengakses file di luar folder yang seharusnya, memeriksa penanganan error, dan mengukur beban per permintaan. Pendekatan ketiga adalah tinjauan konfigurasi dan repositori, yaitu memeriksa apa saja yang ikut terpublikasi di GitHub. Acuan klasifikasinya adalah OWASP Top 10 edisi 2021. Perlu saya tegaskan bahwa pengujian hanya dilakukan pada aplikasi milik saya sendiri, dan server hosting publik tidak diserang. Batasannya, audit kerentanan pada paket dependensi belum dijalankan. Seluruh pengujian saya dokumentasikan agar dapat diulang dan diverifikasi oleh pihak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menunjukkan arsitektur aplikasi agar permukaan serangannya mudah dipahami. Pengguna mengakses dashboard melalui browser. Permintaan masuk ke hosting PythonAnywhere yang sudah memakai HTTPS. Aplikasi Flask kemudian mengambil data dari database SQLite memakai SQLAlchemy, mengolahnya dengan Pandas, dan menampilkan hasilnya dalam grafik Plotly. Halaman juga memuat skrip Bootstrap dan Plotly dari jaringan CDN. Sementara itu kode dan data demo disimpan di repositori GitHub. Dari arsitektur ini saya memetakan lima titik yang perlu diperhatikan, yaitu parameter filter pada alamat URL, akses tanpa login, skrip dari CDN, repositori yang bersifat publik, serta konfigurasi dan kredensial database. Kelima titik inilah yang menjadi dasar saya dalam mencari temuan pada slide-slide berikutnya. Penting dicatat bahwa karena dashboard hanya membaca data dan tidak memiliki formulir isian maupun login, permukaan serangannya relatif kecil dibandingkan aplikasi yang menerima banyak input dari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Berikut ringkasan delapan temuan beserta klasifikasinya. Empat temuan berkategori sedang, yaitu dashboard tanpa autentikasi, header keamanan HTTP yang belum ada, mode debug yang tertulis permanen di kode, dan kredensial database bawaan yang lemah. Empat temuan berkategori rendah, yaitu skrip CDN tanpa Subresource Integrity, tidak adanya pembatasan laju permintaan, data demo di repositori publik, dan dependensi yang belum diaudit. Tingkat risiko ini adalah penilaian kualitatif saya berdasarkan kemungkinan terjadinya dan besarnya dampak, bukan skor CVSS resmi. Kolom kategori merujuk pada OWASP Top 10. Kolom status menunjukkan perkembangannya: ada yang sudah diperbaiki, ada yang mitigasinya sudah tersedia, ada yang diperbaiki sebagian, dan ada yang masih berupa rekomendasi. Selanjutnya saya jelaskan satu per satu. Perlu diingat bahwa tingkat sedang bukan berarti aman dibiarkan, melainkan risiko yang layak ditangani lebih dahulu dibandingkan temuan rendah, terutama jika data yang ditampilkan nantinya adalah data riil milik toko.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Temuan pertama dan kedua. Temuan pertama: dashboard terbuka tanpa autentikasi. Pada pengujian, permintaan ke halaman utama tanpa login langsung mengembalikan HTTP 200 dan menampilkan omzet sebesar Rp306,9 juta. Artinya siapa pun yang memiliki tautan dapat melihat data penjualan dan stok. Pada demo ini datanya simulasi, sehingga dampaknya rendah. Namun jika data yang ditampilkan adalah data riil, ini menjadi kebocoran informasi bisnis. Temuan kedua: header keamanan HTTP belum ada. Saya memeriksa enam header, yaitu Content-Security-Policy, X-Frame-Options, X-Content-Type-Options, Strict-Transport-Security, Referrer-Policy, dan Permissions-Policy, dan tidak ada satu pun yang terpasang. Akibatnya halaman dapat disematkan di situs lain untuk serangan clickjacking, yaitu pengguna tertipu mengklik sesuatu yang tersembunyi, dan browser tidak memiliki batasan sumber skrip yang boleh dijalankan. [Opsional untuk demonstrasi: buka tab Network pada alat pengembang browser, pilih permintaan pertama, lalu tunjukkan bagian Response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Temuan ketiga dan keempat berkaitan dengan konfigurasi. Temuan ketiga: pada bagian akhir file aplikasi tertulis debug sama dengan True. Jika aplikasi dijalankan langsung dan dapat dijangkau dari jaringan, fitur debugger milik Werkzeug dapat dimanfaatkan untuk menjalankan kode dari browser, sehingga dampak potensialnya sangat besar. Saya menguji aplikasi pada mode hosting, dan status debug bernilai False, karena blok tersebut hanya berjalan saat file dijalankan langsung. Jadi risikonya bersifat laten, tetapi praktik ini tetap tidak aman. Temuan keempat: konfigurasi database bawaan memakai pengguna root dengan kata sandi kosong. Ini lazim pada pengembangan lokal, namun jika server MySQL dapat dijangkau dari jaringan, seluruh database dapat diakses tanpa kata sandi. Nilai bawaan seperti ini tidak boleh terbawa ke lingkungan produksi. Pada hosting, aplikasi dijalankan oleh server WSGI sehingga mode debug tidak aktif. Namun jika suatu saat file dijalankan langsung pada komputer atau server yang terhubung ke jaringan, risikonya langsung menjadi nyata. Karena itu pengaturan debug sebaiknya tidak ditulis permanen di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Temuan kelima dan keenam. Temuan kelima: Bootstrap dan Plotly dimuat dari CDN tanpa atribut integrity, atau yang dikenal sebagai Subresource Integrity. Atribut ini berfungsi memastikan file yang diunduh browser sama persis dengan yang diharapkan. Tanpa itu, jika CDN dikompromikan, skrip berbahaya dapat berjalan di halaman dashboard. Ini termasuk risiko rantai pasok perangkat lunak. Temuan keenam: tidak ada pembatasan laju permintaan. Pada pengukuran, setiap permintaan ke dashboard memakan sekitar 160 sampai 190 milidetik dan menghasilkan respons sekitar 66 kilobita, karena aplikasi mengolah data dan merender lima grafik. Permintaan berulang dalam jumlah besar dapat membebani server hosting gratis hingga lambat atau tidak tersedia. Risikonya rendah karena aplikasi hanya membaca data, tetapi tetap perlu diantisipasi. Solusinya, selain memakai SRI atau menyimpan aset sendiri, pembatasan laju dan penyimpanan sementara hasil analisis, atau caching, dapat mengurangi beban karena perhitungan tidak perlu diulang pada setiap permintaan.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Temuan ketujuh dan kedelapan. Temuan ketujuh: berkas database demo dan berkas CSV hasil analisis ikut tersimpan di repositori GitHub yang bersifat publik. Data tersebut dibangkitkan secara acak oleh skrip generate, sehingga bukan data pelanggan yang sebenarnya, dan karena itu risikonya rendah. Namun pola ini berbahaya apabila diterapkan pada data riil, karena dapat melanggar ketentuan perlindungan data pribadi sesuai Undang-Undang Nomor 27 Tahun 2022. Selain itu, skrip ekspor versi awal berpotensi menyalin tabel admin ke berkas yang dipublikasikan. Hal ini sudah saya perbaiki. Temuan kedelapan: versi paket gunicorn belum dikunci dan audit kerentanan paket belum dijalankan. Akibatnya paket yang usang atau mengandung celah dapat tidak terdeteksi. Audit ini belum saya lakukan pada analisis kali ini, sehingga saya cantumkan sebagai keterbatasan sekaligus rekomendasi.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Selain kerentanan, penting juga melaporkan apa yang sudah aman. Pertama, injeksi SQL. Saya mencoba tiga payload pada parameter filter, dan tidak ada yang berefek. Tabel produk tetap utuh berisi tujuh belas baris. Penyebabnya, kueri database bersifat tetap tanpa input pengguna, dan penyaringan data dilakukan di Pandas. Kedua, cross-site scripting. Dari empat payload yang saya coba, tidak ada yang lolos mentah ke HTML, karena Jinja2 melakukan escaping otomatis dan input tanggal serta kategori divalidasi. Ketiga, upaya mengakses file konfigurasi melalui jalur static ditolak dengan HTTP 404. Keempat, rute yang tidak dikenal dan metode yang salah menghasilkan 404 dan 405 tanpa menampilkan jejak tumpukan kode yang dapat membocorkan struktur aplikasi. Hasil ini menunjukkan bahwa keputusan desain awal, yaitu tidak menyusun kueri SQL dari input pengguna dan memakai templat yang melakukan escaping, sudah tepat. Namun hasil ini hanya berlaku untuk pengujian yang saya lakukan, bukan jaminan bahwa tidak ada celah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Berikut perbaikan yang sudah saya terapkan langsung pada kode. Pertama, menambahkan header keamanan. Grafik di sebelah kiri menunjukkan peningkatan dari nol menjadi lima dari enam header, yaitu Content-Security-Policy, X-Frame-Options, X-Content-Type-Options, Referrer-Policy, dan Permissions-Policy. Header HSTS belum dipasang karena perlu diatur pada lapisan hosting. Kedua, mode debug kini dikendalikan oleh variabel lingkungan dan secara bawaan mati. Ketiga, saya menambahkan autentikasi HTTP Basic opsional yang aktif jika kredensial diatur lewat variabel lingkungan, sehingga kata sandi tidak tertulis di kode. Keempat, panjang parameter filter dibatasi empat puluh karakter. Kelima, skrip ekspor tidak lagi menyalin tabel admin dan kontak pelanggan. Hasil verifikasinya: grafik tetap tampil, lima skenario filter berjalan normal, dan tidak ada pelanggaran kebijakan keamanan konten. Sebagai catatan, CSP saya masih memakai unsafe-inline karena skrip grafik ditulis inline, dan ini menjadi rekomendasi jangka panjang. Seluruh perubahan ini sudah saya uji ulang secara fungsional agar tidak merusak fitur filter tanggal dan kategori yang sebelumnya saya perbaiki. Kode hasil perbaikan tersedia pada repositori GitHub proyek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rekomendasi, saya susun berdasarkan prioritas agar mudah ditindaklanjuti. Kategori segera: jika data yang ditampilkan adalah data riil, aktifkan autentikasi pada hosting, ganti pengguna MySQL root dengan pengguna khusus yang hanya memiliki izin baca, dan pastikan berkas database publik tidak memuat tabel admin. Kategori jangka pendek: tambahkan atribut SRI pada skrip CDN atau host aset sendiri, kunci seluruh versi dependensi lalu jalankan audit paket secara berkala, terapkan pembatasan laju atau caching hasil analisis, dan aktifkan HSTS pada hosting. Kategori jangka panjang: terapkan CSP berbasis nonce tanpa unsafe-inline, gunakan hashing kata sandi seperti bcrypt atau Argon2 apabila halaman admin dibuat, tambahkan pencatatan dan pemantauan aktivitas, serta susun kebijakan pengelolaan data pribadi. Urutan prioritas ini mempertimbangkan dampak dan kemudahan pelaksanaan. Langkah segera relatif murah karena hanya berupa pengaturan, tetapi mengurangi risiko yang terbesar.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kesimpulan, hasil analisis menunjukkan bahwa website ini tidak memiliki temuan kritis maupun tinggi pada pengujian yang dilakukan. Terdapat delapan temuan, yaitu empat sedang dan empat rendah. Aplikasi sudah baik dalam menangani injeksi SQL dan cross-site scripting. Kelemahan utamanya ada pada konfigurasi dan kontrol akses, dan sebagian sudah saya perbaiki. Rekomendasi utama saya adalah menerapkan autentikasi bila data riil, mengamankan konfigurasi database, melengkapi perlindungan rantai pasok, dan melakukan audit keamanan secara berkala. Melalui kegiatan ini saya belajar bahwa keamanan perlu dipertimbangkan sejak awal pengembangan, bukan hanya setelah aplikasi selesai. Demikian presentasi saya. Terima kasih atas perhatian Bapak dan Ibu, dan saya siap menjawab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A37"/>
        </a:solidFill>
      </p:bgPr>
    </p:bg>
    <p:spTree>
      <p:nvGrpSpPr>
        <p:cNvPr id="1" name=""/>
        <p:cNvGrpSpPr/>
        <p:nvPr/>
      </p:nvGrpSpPr>
      <p:grpSpPr>
        <a:xfrm>
          <a:off x="0" y="0"/>
          <a:ext cx="0" cy="0"/>
          <a:chOff x="0" y="0"/>
          <a:chExt cx="0" cy="0"/>
        </a:xfrm>
      </p:grpSpPr>
      <p:sp>
        <p:nvSpPr>
          <p:cNvPr id="2" name="Text 0"/>
          <p:cNvSpPr/>
          <p:nvPr/>
        </p:nvSpPr>
        <p:spPr>
          <a:xfrm>
            <a:off x="457200" y="4645152"/>
            <a:ext cx="1463040" cy="365760"/>
          </a:xfrm>
          <a:prstGeom prst="rect">
            <a:avLst/>
          </a:prstGeom>
          <a:noFill/>
          <a:ln/>
        </p:spPr>
        <p:txBody>
          <a:bodyPr wrap="square" lIns="0" tIns="0" rIns="0" bIns="0" rtlCol="0" anchor="ctr"/>
          <a:lstStyle/>
          <a:p>
            <a:pPr algn="ctr" indent="0" marL="0">
              <a:buNone/>
            </a:pPr>
            <a:r>
              <a:rPr lang="en-US" sz="1000" dirty="0">
                <a:solidFill>
                  <a:srgbClr val="5B6B7B"/>
                </a:solidFill>
                <a:latin typeface="Calibri" pitchFamily="34" charset="0"/>
                <a:ea typeface="Calibri" pitchFamily="34" charset="-122"/>
                <a:cs typeface="Calibri" pitchFamily="34" charset="-120"/>
              </a:rPr>
              <a:t>LOGO KAMPUS</a:t>
            </a:r>
            <a:endParaRPr lang="en-US" sz="1000" dirty="0"/>
          </a:p>
        </p:txBody>
      </p:sp>
      <p:sp>
        <p:nvSpPr>
          <p:cNvPr id="3" name="Text 1"/>
          <p:cNvSpPr/>
          <p:nvPr/>
        </p:nvSpPr>
        <p:spPr>
          <a:xfrm>
            <a:off x="6309360" y="4645152"/>
            <a:ext cx="2377440" cy="365760"/>
          </a:xfrm>
          <a:prstGeom prst="rect">
            <a:avLst/>
          </a:prstGeom>
          <a:noFill/>
          <a:ln/>
        </p:spPr>
        <p:txBody>
          <a:bodyPr wrap="square" lIns="0" tIns="0" rIns="0" bIns="0" rtlCol="0" anchor="ctr"/>
          <a:lstStyle/>
          <a:p>
            <a:pPr algn="ctr" indent="0" marL="0">
              <a:buNone/>
            </a:pPr>
            <a:r>
              <a:rPr lang="en-US" sz="1000" dirty="0">
                <a:solidFill>
                  <a:srgbClr val="5B6B7B"/>
                </a:solidFill>
                <a:latin typeface="Calibri" pitchFamily="34" charset="0"/>
                <a:ea typeface="Calibri" pitchFamily="34" charset="-122"/>
                <a:cs typeface="Calibri" pitchFamily="34" charset="-120"/>
              </a:rPr>
              <a:t>LOGO PT. KONSULTAN INOVASI DIGITAL</a:t>
            </a:r>
            <a:endParaRPr lang="en-US" sz="1000" dirty="0"/>
          </a:p>
        </p:txBody>
      </p:sp>
      <p:sp>
        <p:nvSpPr>
          <p:cNvPr id="4" name="Text 2"/>
          <p:cNvSpPr/>
          <p:nvPr>
            <p:ph idx="104" type="title" hasCustomPrompt="1"/>
          </p:nvPr>
        </p:nvSpPr>
        <p:spPr>
          <a:xfrm>
            <a:off x="457200" y="1005840"/>
            <a:ext cx="8229600"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5" name="Text 2"/>
          <p:cNvSpPr/>
          <p:nvPr>
            <p:ph idx="105" type="body" hasCustomPrompt="1"/>
          </p:nvPr>
        </p:nvSpPr>
        <p:spPr>
          <a:xfrm>
            <a:off x="457200" y="2514600"/>
            <a:ext cx="8229600" cy="640080"/>
          </a:xfrm>
          <a:prstGeom prst="rect">
            <a:avLst/>
          </a:prstGeom>
          <a:noFill/>
          <a:ln/>
        </p:spPr>
        <p:txBody>
          <a:bodyPr wrap="square" rtlCol="0"/>
          <a:lstStyle>
            <a:lvl1pPr algn="l" indent="0" marL="0">
              <a:buNone/>
              <a:defRPr lang="en-US" sz="2000" dirty="0">
                <a:solidFill>
                  <a:srgbClr val="CBD5E1"/>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rgbClr val="1F2A37"/>
        </a:solidFill>
      </p:bgPr>
    </p:bg>
    <p:spTree>
      <p:nvGrpSpPr>
        <p:cNvPr id="1" name=""/>
        <p:cNvGrpSpPr/>
        <p:nvPr/>
      </p:nvGrpSpPr>
      <p:grpSpPr>
        <a:xfrm>
          <a:off x="0" y="0"/>
          <a:ext cx="0" cy="0"/>
          <a:chOff x="0" y="0"/>
          <a:chExt cx="0" cy="0"/>
        </a:xfrm>
      </p:grpSpPr>
      <p:sp>
        <p:nvSpPr>
          <p:cNvPr id="2" name="Text 0"/>
          <p:cNvSpPr/>
          <p:nvPr/>
        </p:nvSpPr>
        <p:spPr>
          <a:xfrm>
            <a:off x="457200" y="4645152"/>
            <a:ext cx="1463040" cy="365760"/>
          </a:xfrm>
          <a:prstGeom prst="rect">
            <a:avLst/>
          </a:prstGeom>
          <a:noFill/>
          <a:ln/>
        </p:spPr>
        <p:txBody>
          <a:bodyPr wrap="square" lIns="0" tIns="0" rIns="0" bIns="0" rtlCol="0" anchor="ctr"/>
          <a:lstStyle/>
          <a:p>
            <a:pPr algn="ctr" indent="0" marL="0">
              <a:buNone/>
            </a:pPr>
            <a:r>
              <a:rPr lang="en-US" sz="1000" dirty="0">
                <a:solidFill>
                  <a:srgbClr val="5B6B7B"/>
                </a:solidFill>
                <a:latin typeface="Calibri" pitchFamily="34" charset="0"/>
                <a:ea typeface="Calibri" pitchFamily="34" charset="-122"/>
                <a:cs typeface="Calibri" pitchFamily="34" charset="-120"/>
              </a:rPr>
              <a:t>LOGO KAMPUS</a:t>
            </a:r>
            <a:endParaRPr lang="en-US" sz="1000" dirty="0"/>
          </a:p>
        </p:txBody>
      </p:sp>
      <p:sp>
        <p:nvSpPr>
          <p:cNvPr id="3" name="Text 1"/>
          <p:cNvSpPr/>
          <p:nvPr/>
        </p:nvSpPr>
        <p:spPr>
          <a:xfrm>
            <a:off x="6309360" y="4645152"/>
            <a:ext cx="2377440" cy="365760"/>
          </a:xfrm>
          <a:prstGeom prst="rect">
            <a:avLst/>
          </a:prstGeom>
          <a:noFill/>
          <a:ln/>
        </p:spPr>
        <p:txBody>
          <a:bodyPr wrap="square" lIns="0" tIns="0" rIns="0" bIns="0" rtlCol="0" anchor="ctr"/>
          <a:lstStyle/>
          <a:p>
            <a:pPr algn="ctr" indent="0" marL="0">
              <a:buNone/>
            </a:pPr>
            <a:r>
              <a:rPr lang="en-US" sz="1000" dirty="0">
                <a:solidFill>
                  <a:srgbClr val="5B6B7B"/>
                </a:solidFill>
                <a:latin typeface="Calibri" pitchFamily="34" charset="0"/>
                <a:ea typeface="Calibri" pitchFamily="34" charset="-122"/>
                <a:cs typeface="Calibri" pitchFamily="34" charset="-120"/>
              </a:rPr>
              <a:t>LOGO PT. KONSULTAN INOVASI DIGITAL</a:t>
            </a:r>
            <a:endParaRPr lang="en-US" sz="1000" dirty="0"/>
          </a:p>
        </p:txBody>
      </p:sp>
      <p:sp>
        <p:nvSpPr>
          <p:cNvPr id="4" name="Text 2"/>
          <p:cNvSpPr/>
          <p:nvPr>
            <p:ph idx="104" type="title" hasCustomPrompt="1"/>
          </p:nvPr>
        </p:nvSpPr>
        <p:spPr>
          <a:xfrm>
            <a:off x="457200" y="411480"/>
            <a:ext cx="8229600" cy="82296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457200" y="4645152"/>
            <a:ext cx="1463040" cy="365760"/>
          </a:xfrm>
          <a:prstGeom prst="rect">
            <a:avLst/>
          </a:prstGeom>
          <a:noFill/>
          <a:ln/>
        </p:spPr>
        <p:txBody>
          <a:bodyPr wrap="square" lIns="0" tIns="0" rIns="0" bIns="0" rtlCol="0" anchor="ctr"/>
          <a:lstStyle/>
          <a:p>
            <a:pPr algn="ctr" indent="0" marL="0">
              <a:buNone/>
            </a:pPr>
            <a:r>
              <a:rPr lang="en-US" sz="1000" dirty="0">
                <a:solidFill>
                  <a:srgbClr val="5B6B7B"/>
                </a:solidFill>
                <a:latin typeface="Calibri" pitchFamily="34" charset="0"/>
                <a:ea typeface="Calibri" pitchFamily="34" charset="-122"/>
                <a:cs typeface="Calibri" pitchFamily="34" charset="-120"/>
              </a:rPr>
              <a:t>LOGO KAMPUS</a:t>
            </a:r>
            <a:endParaRPr lang="en-US" sz="1000" dirty="0"/>
          </a:p>
        </p:txBody>
      </p:sp>
      <p:sp>
        <p:nvSpPr>
          <p:cNvPr id="3" name="Text 1"/>
          <p:cNvSpPr/>
          <p:nvPr/>
        </p:nvSpPr>
        <p:spPr>
          <a:xfrm>
            <a:off x="6309360" y="4645152"/>
            <a:ext cx="2377440" cy="365760"/>
          </a:xfrm>
          <a:prstGeom prst="rect">
            <a:avLst/>
          </a:prstGeom>
          <a:noFill/>
          <a:ln/>
        </p:spPr>
        <p:txBody>
          <a:bodyPr wrap="square" lIns="0" tIns="0" rIns="0" bIns="0" rtlCol="0" anchor="ctr"/>
          <a:lstStyle/>
          <a:p>
            <a:pPr algn="ctr" indent="0" marL="0">
              <a:buNone/>
            </a:pPr>
            <a:r>
              <a:rPr lang="en-US" sz="1000" dirty="0">
                <a:solidFill>
                  <a:srgbClr val="5B6B7B"/>
                </a:solidFill>
                <a:latin typeface="Calibri" pitchFamily="34" charset="0"/>
                <a:ea typeface="Calibri" pitchFamily="34" charset="-122"/>
                <a:cs typeface="Calibri" pitchFamily="34" charset="-120"/>
              </a:rPr>
              <a:t>LOGO PT. KONSULTAN INOVASI DIGITAL</a:t>
            </a:r>
            <a:endParaRPr lang="en-US" sz="1000" dirty="0"/>
          </a:p>
        </p:txBody>
      </p:sp>
      <p:sp>
        <p:nvSpPr>
          <p:cNvPr id="4" name="Text 2"/>
          <p:cNvSpPr/>
          <p:nvPr>
            <p:ph idx="104"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rgbClr val="1F2A37"/>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4" type="title" hasCustomPrompt="1"/>
          </p:nvPr>
        </p:nvSpPr>
        <p:spPr>
          <a:xfrm>
            <a:off x="457200" y="1005840"/>
            <a:ext cx="822960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Analisis Kerentanan dan Keamanan Website</a:t>
            </a:r>
            <a:endParaRPr lang="en-US" sz="4000" dirty="0"/>
          </a:p>
        </p:txBody>
      </p:sp>
      <p:sp>
        <p:nvSpPr>
          <p:cNvPr id="3" name="Text 2"/>
          <p:cNvSpPr/>
          <p:nvPr>
            <p:ph idx="105" type="body" hasCustomPrompt="1"/>
          </p:nvPr>
        </p:nvSpPr>
        <p:spPr>
          <a:xfrm>
            <a:off x="457200" y="2514600"/>
            <a:ext cx="8229600" cy="640080"/>
          </a:xfrm>
          <a:prstGeom prst="rect">
            <a:avLst/>
          </a:prstGeom>
          <a:noFill/>
          <a:ln/>
        </p:spPr>
        <p:txBody>
          <a:bodyPr wrap="square" lIns="0" tIns="0" rIns="0" bIns="0" rtlCol="0" anchor="t"/>
          <a:lstStyle/>
          <a:p>
            <a:pPr algn="l" indent="0" marL="0">
              <a:buNone/>
            </a:pPr>
            <a:r>
              <a:rPr lang="en-US" sz="2000" dirty="0">
                <a:solidFill>
                  <a:srgbClr val="CBD5E1"/>
                </a:solidFill>
                <a:latin typeface="Calibri" pitchFamily="34" charset="0"/>
                <a:ea typeface="Calibri" pitchFamily="34" charset="-122"/>
                <a:cs typeface="Calibri" pitchFamily="34" charset="-120"/>
              </a:rPr>
              <a:t>Dashboard Analitik Toko Bangunan Sinar Jaya</a:t>
            </a:r>
            <a:endParaRPr lang="en-US" sz="2000" dirty="0"/>
          </a:p>
        </p:txBody>
      </p:sp>
      <p:sp>
        <p:nvSpPr>
          <p:cNvPr id="4" name="Text 2"/>
          <p:cNvSpPr txBox="1"/>
          <p:nvPr/>
        </p:nvSpPr>
        <p:spPr>
          <a:xfrm>
            <a:off x="457200" y="3291840"/>
            <a:ext cx="8229600" cy="100584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[Nama Lengkap Peserta]</a:t>
            </a:r>
            <a:endParaRPr lang="en-US" sz="1600" dirty="0"/>
          </a:p>
          <a:p>
            <a:pPr indent="0" marL="0">
              <a:spcAft>
                <a:spcPts val="400"/>
              </a:spcAft>
              <a:buNone/>
            </a:pPr>
            <a:r>
              <a:rPr lang="en-US" sz="1600" dirty="0">
                <a:solidFill>
                  <a:srgbClr val="FFFFFF"/>
                </a:solidFill>
                <a:latin typeface="Calibri" pitchFamily="34" charset="0"/>
                <a:ea typeface="Calibri" pitchFamily="34" charset="-122"/>
                <a:cs typeface="Calibri" pitchFamily="34" charset="-120"/>
              </a:rPr>
              <a:t>[Nama Kampus]</a:t>
            </a:r>
            <a:endParaRPr lang="en-US" sz="1600" dirty="0"/>
          </a:p>
          <a:p>
            <a:pPr indent="0" marL="0">
              <a:spcAft>
                <a:spcPts val="400"/>
              </a:spcAft>
              <a:buNone/>
            </a:pPr>
            <a:r>
              <a:rPr lang="en-US" sz="1600" dirty="0">
                <a:solidFill>
                  <a:srgbClr val="FFFFFF"/>
                </a:solidFill>
                <a:latin typeface="Calibri" pitchFamily="34" charset="0"/>
                <a:ea typeface="Calibri" pitchFamily="34" charset="-122"/>
                <a:cs typeface="Calibri" pitchFamily="34" charset="-120"/>
              </a:rPr>
              <a:t>Program Magang Data Analyst, PT. Konsultan Inovasi Digital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F2A37"/>
                </a:solidFill>
                <a:latin typeface="Cambria" pitchFamily="34" charset="0"/>
                <a:ea typeface="Cambria" pitchFamily="34" charset="-122"/>
                <a:cs typeface="Cambria" pitchFamily="34" charset="-120"/>
              </a:rPr>
              <a:t>Tujuan dan ringkasan eksekutif</a:t>
            </a:r>
            <a:endParaRPr lang="en-US" sz="3200" dirty="0"/>
          </a:p>
        </p:txBody>
      </p:sp>
      <p:sp>
        <p:nvSpPr>
          <p:cNvPr id="4" name="Text 1"/>
          <p:cNvSpPr txBox="1"/>
          <p:nvPr/>
        </p:nvSpPr>
        <p:spPr>
          <a:xfrm>
            <a:off x="457200" y="1188720"/>
            <a:ext cx="4114800" cy="3108960"/>
          </a:xfrm>
          <a:prstGeom prst="rect">
            <a:avLst/>
          </a:prstGeom>
          <a:noFill/>
          <a:ln/>
        </p:spPr>
        <p:txBody>
          <a:bodyPr wrap="square" lIns="0" tIns="0" rIns="0" bIns="0" rtlCol="0" anchor="t"/>
          <a:lstStyle/>
          <a:p>
            <a:pPr indent="0" marL="0">
              <a:spcAft>
                <a:spcPts val="1200"/>
              </a:spcAft>
              <a:buNone/>
            </a:pPr>
            <a:r>
              <a:rPr lang="en-US" sz="2000" b="1" dirty="0">
                <a:solidFill>
                  <a:srgbClr val="1F2A37"/>
                </a:solidFill>
                <a:latin typeface="Calibri" pitchFamily="34" charset="0"/>
                <a:ea typeface="Calibri" pitchFamily="34" charset="-122"/>
                <a:cs typeface="Calibri" pitchFamily="34" charset="-120"/>
              </a:rPr>
              <a:t>Tujuan analisis</a:t>
            </a:r>
            <a:endParaRPr lang="en-US" sz="1800" dirty="0"/>
          </a:p>
          <a:p>
            <a:pPr marL="342900" indent="-342900">
              <a:spcAft>
                <a:spcPts val="1200"/>
              </a:spcAft>
              <a:buSzPct val="100000"/>
              <a:buChar char="•"/>
            </a:pPr>
            <a:r>
              <a:rPr lang="en-US" sz="1800" dirty="0">
                <a:solidFill>
                  <a:srgbClr val="1F2A37"/>
                </a:solidFill>
                <a:latin typeface="Calibri" pitchFamily="34" charset="0"/>
                <a:ea typeface="Calibri" pitchFamily="34" charset="-122"/>
                <a:cs typeface="Calibri" pitchFamily="34" charset="-120"/>
              </a:rPr>
              <a:t>Mengidentifikasi kerentanan website</a:t>
            </a:r>
            <a:endParaRPr lang="en-US" sz="1800" dirty="0"/>
          </a:p>
          <a:p>
            <a:pPr marL="342900" indent="-342900">
              <a:spcAft>
                <a:spcPts val="1200"/>
              </a:spcAft>
              <a:buSzPct val="100000"/>
              <a:buChar char="•"/>
            </a:pPr>
            <a:r>
              <a:rPr lang="en-US" sz="1800" dirty="0">
                <a:solidFill>
                  <a:srgbClr val="1F2A37"/>
                </a:solidFill>
                <a:latin typeface="Calibri" pitchFamily="34" charset="0"/>
                <a:ea typeface="Calibri" pitchFamily="34" charset="-122"/>
                <a:cs typeface="Calibri" pitchFamily="34" charset="-120"/>
              </a:rPr>
              <a:t>Menilai dampak risikonya bagi pemilik toko</a:t>
            </a:r>
            <a:endParaRPr lang="en-US" sz="1800" dirty="0"/>
          </a:p>
          <a:p>
            <a:pPr marL="342900" indent="-342900">
              <a:spcAft>
                <a:spcPts val="1200"/>
              </a:spcAft>
              <a:buSzPct val="100000"/>
              <a:buChar char="•"/>
            </a:pPr>
            <a:r>
              <a:rPr lang="en-US" sz="1800" dirty="0">
                <a:solidFill>
                  <a:srgbClr val="1F2A37"/>
                </a:solidFill>
                <a:latin typeface="Calibri" pitchFamily="34" charset="0"/>
                <a:ea typeface="Calibri" pitchFamily="34" charset="-122"/>
                <a:cs typeface="Calibri" pitchFamily="34" charset="-120"/>
              </a:rPr>
              <a:t>Memberi perbaikan dan rekomendasi yang dapat ditindaklanjuti</a:t>
            </a:r>
            <a:endParaRPr lang="en-US" sz="1800" dirty="0"/>
          </a:p>
        </p:txBody>
      </p:sp>
      <p:sp>
        <p:nvSpPr>
          <p:cNvPr id="5" name="Statistik 1"/>
          <p:cNvSpPr/>
          <p:nvPr/>
        </p:nvSpPr>
        <p:spPr>
          <a:xfrm>
            <a:off x="4846320" y="1188720"/>
            <a:ext cx="3840480" cy="91440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5029200" y="1188720"/>
            <a:ext cx="1463040" cy="914400"/>
          </a:xfrm>
          <a:prstGeom prst="rect">
            <a:avLst/>
          </a:prstGeom>
          <a:noFill/>
          <a:ln/>
        </p:spPr>
        <p:txBody>
          <a:bodyPr wrap="square" lIns="0" tIns="0" rIns="0" bIns="0" rtlCol="0" anchor="ctr"/>
          <a:lstStyle/>
          <a:p>
            <a:pPr indent="0" marL="0">
              <a:buNone/>
            </a:pPr>
            <a:r>
              <a:rPr lang="en-US" sz="3600" b="1" dirty="0">
                <a:solidFill>
                  <a:srgbClr val="1F2A37"/>
                </a:solidFill>
                <a:latin typeface="Cambria" pitchFamily="34" charset="0"/>
                <a:ea typeface="Cambria" pitchFamily="34" charset="-122"/>
                <a:cs typeface="Cambria" pitchFamily="34" charset="-120"/>
              </a:rPr>
              <a:t>8</a:t>
            </a:r>
            <a:endParaRPr lang="en-US" sz="3600" dirty="0"/>
          </a:p>
        </p:txBody>
      </p:sp>
      <p:sp>
        <p:nvSpPr>
          <p:cNvPr id="7" name="Text 4"/>
          <p:cNvSpPr txBox="1"/>
          <p:nvPr/>
        </p:nvSpPr>
        <p:spPr>
          <a:xfrm>
            <a:off x="6492240" y="1188720"/>
            <a:ext cx="2103120" cy="914400"/>
          </a:xfrm>
          <a:prstGeom prst="rect">
            <a:avLst/>
          </a:prstGeom>
          <a:noFill/>
          <a:ln/>
        </p:spPr>
        <p:txBody>
          <a:bodyPr wrap="square" lIns="0" tIns="0" rIns="0" bIns="0" rtlCol="0" anchor="ctr"/>
          <a:lstStyle/>
          <a:p>
            <a:pPr indent="0" marL="0">
              <a:buNone/>
            </a:pPr>
            <a:r>
              <a:rPr lang="en-US" sz="1600" dirty="0">
                <a:solidFill>
                  <a:srgbClr val="5B6B7B"/>
                </a:solidFill>
              </a:rPr>
              <a:t>temuan kerentanan</a:t>
            </a:r>
            <a:endParaRPr lang="en-US" sz="1600" dirty="0"/>
          </a:p>
        </p:txBody>
      </p:sp>
      <p:sp>
        <p:nvSpPr>
          <p:cNvPr id="8" name="Statistik 2"/>
          <p:cNvSpPr/>
          <p:nvPr/>
        </p:nvSpPr>
        <p:spPr>
          <a:xfrm>
            <a:off x="4846320" y="2240280"/>
            <a:ext cx="3840480" cy="91440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5029200" y="2240280"/>
            <a:ext cx="1463040" cy="914400"/>
          </a:xfrm>
          <a:prstGeom prst="rect">
            <a:avLst/>
          </a:prstGeom>
          <a:noFill/>
          <a:ln/>
        </p:spPr>
        <p:txBody>
          <a:bodyPr wrap="square" lIns="0" tIns="0" rIns="0" bIns="0" rtlCol="0" anchor="ctr"/>
          <a:lstStyle/>
          <a:p>
            <a:pPr indent="0" marL="0">
              <a:buNone/>
            </a:pPr>
            <a:r>
              <a:rPr lang="en-US" sz="3600" b="1" dirty="0">
                <a:solidFill>
                  <a:srgbClr val="1F2A37"/>
                </a:solidFill>
                <a:latin typeface="Cambria" pitchFamily="34" charset="0"/>
                <a:ea typeface="Cambria" pitchFamily="34" charset="-122"/>
                <a:cs typeface="Cambria" pitchFamily="34" charset="-120"/>
              </a:rPr>
              <a:t>4 + 4</a:t>
            </a:r>
            <a:endParaRPr lang="en-US" sz="3600" dirty="0"/>
          </a:p>
        </p:txBody>
      </p:sp>
      <p:sp>
        <p:nvSpPr>
          <p:cNvPr id="10" name="Text 7"/>
          <p:cNvSpPr txBox="1"/>
          <p:nvPr/>
        </p:nvSpPr>
        <p:spPr>
          <a:xfrm>
            <a:off x="6492240" y="2240280"/>
            <a:ext cx="2103120" cy="914400"/>
          </a:xfrm>
          <a:prstGeom prst="rect">
            <a:avLst/>
          </a:prstGeom>
          <a:noFill/>
          <a:ln/>
        </p:spPr>
        <p:txBody>
          <a:bodyPr wrap="square" lIns="0" tIns="0" rIns="0" bIns="0" rtlCol="0" anchor="ctr"/>
          <a:lstStyle/>
          <a:p>
            <a:pPr indent="0" marL="0">
              <a:buNone/>
            </a:pPr>
            <a:r>
              <a:rPr lang="en-US" sz="1600" dirty="0">
                <a:solidFill>
                  <a:srgbClr val="5B6B7B"/>
                </a:solidFill>
              </a:rPr>
              <a:t>sedang dan rendah</a:t>
            </a:r>
            <a:endParaRPr lang="en-US" sz="1600" dirty="0"/>
          </a:p>
        </p:txBody>
      </p:sp>
      <p:sp>
        <p:nvSpPr>
          <p:cNvPr id="11" name="Statistik 3"/>
          <p:cNvSpPr/>
          <p:nvPr/>
        </p:nvSpPr>
        <p:spPr>
          <a:xfrm>
            <a:off x="4846320" y="3291840"/>
            <a:ext cx="3840480" cy="91440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5029200" y="3291840"/>
            <a:ext cx="1463040" cy="914400"/>
          </a:xfrm>
          <a:prstGeom prst="rect">
            <a:avLst/>
          </a:prstGeom>
          <a:noFill/>
          <a:ln/>
        </p:spPr>
        <p:txBody>
          <a:bodyPr wrap="square" lIns="0" tIns="0" rIns="0" bIns="0" rtlCol="0" anchor="ctr"/>
          <a:lstStyle/>
          <a:p>
            <a:pPr indent="0" marL="0">
              <a:buNone/>
            </a:pPr>
            <a:r>
              <a:rPr lang="en-US" sz="3600" b="1" dirty="0">
                <a:solidFill>
                  <a:srgbClr val="0E7C73"/>
                </a:solidFill>
                <a:latin typeface="Cambria" pitchFamily="34" charset="0"/>
                <a:ea typeface="Cambria" pitchFamily="34" charset="-122"/>
                <a:cs typeface="Cambria" pitchFamily="34" charset="-120"/>
              </a:rPr>
              <a:t>0</a:t>
            </a:r>
            <a:endParaRPr lang="en-US" sz="3600" dirty="0"/>
          </a:p>
        </p:txBody>
      </p:sp>
      <p:sp>
        <p:nvSpPr>
          <p:cNvPr id="13" name="Text 10"/>
          <p:cNvSpPr txBox="1"/>
          <p:nvPr/>
        </p:nvSpPr>
        <p:spPr>
          <a:xfrm>
            <a:off x="6492240" y="3291840"/>
            <a:ext cx="2103120" cy="914400"/>
          </a:xfrm>
          <a:prstGeom prst="rect">
            <a:avLst/>
          </a:prstGeom>
          <a:noFill/>
          <a:ln/>
        </p:spPr>
        <p:txBody>
          <a:bodyPr wrap="square" lIns="0" tIns="0" rIns="0" bIns="0" rtlCol="0" anchor="ctr"/>
          <a:lstStyle/>
          <a:p>
            <a:pPr indent="0" marL="0">
              <a:buNone/>
            </a:pPr>
            <a:r>
              <a:rPr lang="en-US" sz="1600" dirty="0">
                <a:solidFill>
                  <a:srgbClr val="5B6B7B"/>
                </a:solidFill>
              </a:rPr>
              <a:t>temuan kritis atau tinggi</a:t>
            </a:r>
            <a:endParaRPr lang="en-US" sz="1600" dirty="0"/>
          </a:p>
        </p:txBody>
      </p:sp>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F2A37"/>
                </a:solidFill>
                <a:latin typeface="Cambria" pitchFamily="34" charset="0"/>
                <a:ea typeface="Cambria" pitchFamily="34" charset="-122"/>
                <a:cs typeface="Cambria" pitchFamily="34" charset="-120"/>
              </a:rPr>
              <a:t>Ruang lingkup dan metodologi</a:t>
            </a:r>
            <a:endParaRPr lang="en-US" sz="3200" dirty="0"/>
          </a:p>
        </p:txBody>
      </p:sp>
      <p:sp>
        <p:nvSpPr>
          <p:cNvPr id="4" name="Metode 1"/>
          <p:cNvSpPr/>
          <p:nvPr/>
        </p:nvSpPr>
        <p:spPr>
          <a:xfrm>
            <a:off x="457200" y="1188720"/>
            <a:ext cx="2651760" cy="22402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5" name="Nomor 1"/>
          <p:cNvSpPr/>
          <p:nvPr/>
        </p:nvSpPr>
        <p:spPr>
          <a:xfrm>
            <a:off x="640080" y="1371600"/>
            <a:ext cx="384048" cy="384048"/>
          </a:xfrm>
          <a:prstGeom prst="ellipse">
            <a:avLst/>
          </a:prstGeom>
          <a:solidFill>
            <a:srgbClr val="1F2A37"/>
          </a:solidFill>
          <a:ln w="12700">
            <a:solidFill>
              <a:srgbClr val="1F2A37"/>
            </a:solidFill>
            <a:prstDash val="solid"/>
          </a:ln>
        </p:spPr>
      </p:sp>
      <p:sp>
        <p:nvSpPr>
          <p:cNvPr id="6" name="Text 3"/>
          <p:cNvSpPr txBox="1"/>
          <p:nvPr/>
        </p:nvSpPr>
        <p:spPr>
          <a:xfrm>
            <a:off x="640080"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640080" y="1874520"/>
            <a:ext cx="2286000" cy="411480"/>
          </a:xfrm>
          <a:prstGeom prst="rect">
            <a:avLst/>
          </a:prstGeom>
          <a:noFill/>
          <a:ln/>
        </p:spPr>
        <p:txBody>
          <a:bodyPr wrap="square" lIns="0" tIns="0" rIns="0" bIns="0" rtlCol="0" anchor="t"/>
          <a:lstStyle/>
          <a:p>
            <a:pPr indent="0" marL="0">
              <a:buNone/>
            </a:pPr>
            <a:r>
              <a:rPr lang="en-US" sz="1800" b="1" dirty="0">
                <a:solidFill>
                  <a:srgbClr val="1F2A37"/>
                </a:solidFill>
                <a:latin typeface="Cambria" pitchFamily="34" charset="0"/>
                <a:ea typeface="Cambria" pitchFamily="34" charset="-122"/>
                <a:cs typeface="Cambria" pitchFamily="34" charset="-120"/>
              </a:rPr>
              <a:t>Tinjauan kode</a:t>
            </a:r>
            <a:endParaRPr lang="en-US" sz="1800" dirty="0"/>
          </a:p>
        </p:txBody>
      </p:sp>
      <p:sp>
        <p:nvSpPr>
          <p:cNvPr id="8" name="Text 5"/>
          <p:cNvSpPr txBox="1"/>
          <p:nvPr/>
        </p:nvSpPr>
        <p:spPr>
          <a:xfrm>
            <a:off x="640080" y="2331720"/>
            <a:ext cx="2286000" cy="1051560"/>
          </a:xfrm>
          <a:prstGeom prst="rect">
            <a:avLst/>
          </a:prstGeom>
          <a:noFill/>
          <a:ln/>
        </p:spPr>
        <p:txBody>
          <a:bodyPr wrap="square" lIns="0" tIns="0" rIns="0" bIns="0" rtlCol="0" anchor="t"/>
          <a:lstStyle/>
          <a:p>
            <a:pPr indent="0" marL="0">
              <a:buNone/>
            </a:pPr>
            <a:r>
              <a:rPr lang="en-US" sz="1500" dirty="0">
                <a:solidFill>
                  <a:srgbClr val="5B6B7B"/>
                </a:solidFill>
              </a:rPr>
              <a:t>Pembacaan manual app.py, config.py, skrip ekspor, dan templat HTML</a:t>
            </a:r>
            <a:endParaRPr lang="en-US" sz="1500" dirty="0"/>
          </a:p>
        </p:txBody>
      </p:sp>
      <p:sp>
        <p:nvSpPr>
          <p:cNvPr id="9" name="Metode 2"/>
          <p:cNvSpPr/>
          <p:nvPr/>
        </p:nvSpPr>
        <p:spPr>
          <a:xfrm>
            <a:off x="3246120" y="1188720"/>
            <a:ext cx="2651760" cy="22402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10" name="Nomor 2"/>
          <p:cNvSpPr/>
          <p:nvPr/>
        </p:nvSpPr>
        <p:spPr>
          <a:xfrm>
            <a:off x="3429000" y="1371600"/>
            <a:ext cx="384048" cy="384048"/>
          </a:xfrm>
          <a:prstGeom prst="ellipse">
            <a:avLst/>
          </a:prstGeom>
          <a:solidFill>
            <a:srgbClr val="1F2A37"/>
          </a:solidFill>
          <a:ln w="12700">
            <a:solidFill>
              <a:srgbClr val="1F2A37"/>
            </a:solidFill>
            <a:prstDash val="solid"/>
          </a:ln>
        </p:spPr>
      </p:sp>
      <p:sp>
        <p:nvSpPr>
          <p:cNvPr id="11" name="Text 8"/>
          <p:cNvSpPr txBox="1"/>
          <p:nvPr/>
        </p:nvSpPr>
        <p:spPr>
          <a:xfrm>
            <a:off x="3429000"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3429000" y="1874520"/>
            <a:ext cx="2286000" cy="411480"/>
          </a:xfrm>
          <a:prstGeom prst="rect">
            <a:avLst/>
          </a:prstGeom>
          <a:noFill/>
          <a:ln/>
        </p:spPr>
        <p:txBody>
          <a:bodyPr wrap="square" lIns="0" tIns="0" rIns="0" bIns="0" rtlCol="0" anchor="t"/>
          <a:lstStyle/>
          <a:p>
            <a:pPr indent="0" marL="0">
              <a:buNone/>
            </a:pPr>
            <a:r>
              <a:rPr lang="en-US" sz="1800" b="1" dirty="0">
                <a:solidFill>
                  <a:srgbClr val="1F2A37"/>
                </a:solidFill>
                <a:latin typeface="Cambria" pitchFamily="34" charset="0"/>
                <a:ea typeface="Cambria" pitchFamily="34" charset="-122"/>
                <a:cs typeface="Cambria" pitchFamily="34" charset="-120"/>
              </a:rPr>
              <a:t>Uji dinamis lokal</a:t>
            </a:r>
            <a:endParaRPr lang="en-US" sz="1800" dirty="0"/>
          </a:p>
        </p:txBody>
      </p:sp>
      <p:sp>
        <p:nvSpPr>
          <p:cNvPr id="13" name="Text 10"/>
          <p:cNvSpPr txBox="1"/>
          <p:nvPr/>
        </p:nvSpPr>
        <p:spPr>
          <a:xfrm>
            <a:off x="3429000" y="2331720"/>
            <a:ext cx="2286000" cy="1051560"/>
          </a:xfrm>
          <a:prstGeom prst="rect">
            <a:avLst/>
          </a:prstGeom>
          <a:noFill/>
          <a:ln/>
        </p:spPr>
        <p:txBody>
          <a:bodyPr wrap="square" lIns="0" tIns="0" rIns="0" bIns="0" rtlCol="0" anchor="t"/>
          <a:lstStyle/>
          <a:p>
            <a:pPr indent="0" marL="0">
              <a:buNone/>
            </a:pPr>
            <a:r>
              <a:rPr lang="en-US" sz="1500" dirty="0">
                <a:solidFill>
                  <a:srgbClr val="5B6B7B"/>
                </a:solidFill>
              </a:rPr>
              <a:t>Header HTTP, injeksi SQL, XSS, akses file, penanganan error, beban</a:t>
            </a:r>
            <a:endParaRPr lang="en-US" sz="1500" dirty="0"/>
          </a:p>
        </p:txBody>
      </p:sp>
      <p:sp>
        <p:nvSpPr>
          <p:cNvPr id="14" name="Metode 3"/>
          <p:cNvSpPr/>
          <p:nvPr/>
        </p:nvSpPr>
        <p:spPr>
          <a:xfrm>
            <a:off x="6035040" y="1188720"/>
            <a:ext cx="2651760" cy="22402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15" name="Nomor 3"/>
          <p:cNvSpPr/>
          <p:nvPr/>
        </p:nvSpPr>
        <p:spPr>
          <a:xfrm>
            <a:off x="6217920" y="1371600"/>
            <a:ext cx="384048" cy="384048"/>
          </a:xfrm>
          <a:prstGeom prst="ellipse">
            <a:avLst/>
          </a:prstGeom>
          <a:solidFill>
            <a:srgbClr val="1F2A37"/>
          </a:solidFill>
          <a:ln w="12700">
            <a:solidFill>
              <a:srgbClr val="1F2A37"/>
            </a:solidFill>
            <a:prstDash val="solid"/>
          </a:ln>
        </p:spPr>
      </p:sp>
      <p:sp>
        <p:nvSpPr>
          <p:cNvPr id="16" name="Text 13"/>
          <p:cNvSpPr txBox="1"/>
          <p:nvPr/>
        </p:nvSpPr>
        <p:spPr>
          <a:xfrm>
            <a:off x="6217920"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txBox="1"/>
          <p:nvPr/>
        </p:nvSpPr>
        <p:spPr>
          <a:xfrm>
            <a:off x="6217920" y="1874520"/>
            <a:ext cx="2286000" cy="411480"/>
          </a:xfrm>
          <a:prstGeom prst="rect">
            <a:avLst/>
          </a:prstGeom>
          <a:noFill/>
          <a:ln/>
        </p:spPr>
        <p:txBody>
          <a:bodyPr wrap="square" lIns="0" tIns="0" rIns="0" bIns="0" rtlCol="0" anchor="t"/>
          <a:lstStyle/>
          <a:p>
            <a:pPr indent="0" marL="0">
              <a:buNone/>
            </a:pPr>
            <a:r>
              <a:rPr lang="en-US" sz="1800" b="1" dirty="0">
                <a:solidFill>
                  <a:srgbClr val="1F2A37"/>
                </a:solidFill>
                <a:latin typeface="Cambria" pitchFamily="34" charset="0"/>
                <a:ea typeface="Cambria" pitchFamily="34" charset="-122"/>
                <a:cs typeface="Cambria" pitchFamily="34" charset="-120"/>
              </a:rPr>
              <a:t>Konfigurasi dan data</a:t>
            </a:r>
            <a:endParaRPr lang="en-US" sz="1800" dirty="0"/>
          </a:p>
        </p:txBody>
      </p:sp>
      <p:sp>
        <p:nvSpPr>
          <p:cNvPr id="18" name="Text 15"/>
          <p:cNvSpPr txBox="1"/>
          <p:nvPr/>
        </p:nvSpPr>
        <p:spPr>
          <a:xfrm>
            <a:off x="6217920" y="2331720"/>
            <a:ext cx="2286000" cy="1051560"/>
          </a:xfrm>
          <a:prstGeom prst="rect">
            <a:avLst/>
          </a:prstGeom>
          <a:noFill/>
          <a:ln/>
        </p:spPr>
        <p:txBody>
          <a:bodyPr wrap="square" lIns="0" tIns="0" rIns="0" bIns="0" rtlCol="0" anchor="t"/>
          <a:lstStyle/>
          <a:p>
            <a:pPr indent="0" marL="0">
              <a:buNone/>
            </a:pPr>
            <a:r>
              <a:rPr lang="en-US" sz="1500" dirty="0">
                <a:solidFill>
                  <a:srgbClr val="5B6B7B"/>
                </a:solidFill>
              </a:rPr>
              <a:t>Isi GitHub, berkas data, kredensial bawaan, dependensi</a:t>
            </a:r>
            <a:endParaRPr lang="en-US" sz="1500" dirty="0"/>
          </a:p>
        </p:txBody>
      </p:sp>
      <p:sp>
        <p:nvSpPr>
          <p:cNvPr id="19" name="Text 16"/>
          <p:cNvSpPr txBox="1"/>
          <p:nvPr/>
        </p:nvSpPr>
        <p:spPr>
          <a:xfrm>
            <a:off x="457200" y="3703320"/>
            <a:ext cx="8229600" cy="731520"/>
          </a:xfrm>
          <a:prstGeom prst="rect">
            <a:avLst/>
          </a:prstGeom>
          <a:noFill/>
          <a:ln/>
        </p:spPr>
        <p:txBody>
          <a:bodyPr wrap="square" lIns="0" tIns="0" rIns="0" bIns="0" rtlCol="0" anchor="t"/>
          <a:lstStyle/>
          <a:p>
            <a:pPr indent="0" marL="0">
              <a:buNone/>
            </a:pPr>
            <a:r>
              <a:rPr lang="en-US" sz="1400" b="1" dirty="0">
                <a:solidFill>
                  <a:srgbClr val="1F2A37"/>
                </a:solidFill>
              </a:rPr>
              <a:t>Acuan: </a:t>
            </a:r>
            <a:pPr indent="0" marL="0">
              <a:buNone/>
            </a:pPr>
            <a:r>
              <a:rPr lang="en-US" sz="1400" dirty="0">
                <a:solidFill>
                  <a:srgbClr val="1F2A37"/>
                </a:solidFill>
              </a:rPr>
              <a:t>OWASP Top 10 (edisi 2021). </a:t>
            </a:r>
            <a:pPr indent="0" marL="0">
              <a:buNone/>
            </a:pPr>
            <a:r>
              <a:rPr lang="en-US" sz="1400" b="1" dirty="0">
                <a:solidFill>
                  <a:srgbClr val="1F2A37"/>
                </a:solidFill>
              </a:rPr>
              <a:t>Batasan: </a:t>
            </a:r>
            <a:pPr indent="0" marL="0">
              <a:buNone/>
            </a:pPr>
            <a:r>
              <a:rPr lang="en-US" sz="1400" dirty="0">
                <a:solidFill>
                  <a:srgbClr val="1F2A37"/>
                </a:solidFill>
              </a:rPr>
              <a:t>server hosting publik tidak diserang; audit paket (pip-audit) belum dijalankan.</a:t>
            </a:r>
            <a:endParaRPr lang="en-US" sz="1400" dirty="0"/>
          </a:p>
        </p:txBody>
      </p:sp>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F2A37"/>
                </a:solidFill>
                <a:latin typeface="Cambria" pitchFamily="34" charset="0"/>
                <a:ea typeface="Cambria" pitchFamily="34" charset="-122"/>
                <a:cs typeface="Cambria" pitchFamily="34" charset="-120"/>
              </a:rPr>
              <a:t>Arsitektur dan permukaan serangan</a:t>
            </a:r>
            <a:endParaRPr lang="en-US" sz="3200" dirty="0"/>
          </a:p>
        </p:txBody>
      </p:sp>
      <p:sp>
        <p:nvSpPr>
          <p:cNvPr id="4" name="Node Pengguna"/>
          <p:cNvSpPr/>
          <p:nvPr/>
        </p:nvSpPr>
        <p:spPr>
          <a:xfrm>
            <a:off x="457200" y="1828800"/>
            <a:ext cx="1828800" cy="960120"/>
          </a:xfrm>
          <a:prstGeom prst="roundRect">
            <a:avLst>
              <a:gd name="adj" fmla="val 7619"/>
            </a:avLst>
          </a:prstGeom>
          <a:solidFill>
            <a:srgbClr val="1F2A37"/>
          </a:solidFill>
          <a:ln w="12700">
            <a:solidFill>
              <a:srgbClr val="1F2A37"/>
            </a:solidFill>
            <a:prstDash val="solid"/>
          </a:ln>
        </p:spPr>
      </p:sp>
      <p:sp>
        <p:nvSpPr>
          <p:cNvPr id="5" name="Text 2"/>
          <p:cNvSpPr txBox="1"/>
          <p:nvPr/>
        </p:nvSpPr>
        <p:spPr>
          <a:xfrm>
            <a:off x="457200" y="1828800"/>
            <a:ext cx="1828800" cy="960120"/>
          </a:xfrm>
          <a:prstGeom prst="rect">
            <a:avLst/>
          </a:prstGeom>
          <a:noFill/>
          <a:ln/>
        </p:spPr>
        <p:txBody>
          <a:bodyPr wrap="square" lIns="0" tIns="0" rIns="0" bIns="0" rtlCol="0" anchor="ctr"/>
          <a:lstStyle/>
          <a:p>
            <a:pPr algn="ctr" indent="0" marL="0">
              <a:buNone/>
            </a:pPr>
            <a:r>
              <a:rPr lang="en-US" sz="1600" b="1" dirty="0">
                <a:solidFill>
                  <a:srgbClr val="FFFFFF"/>
                </a:solidFill>
              </a:rPr>
              <a:t>Pengguna</a:t>
            </a:r>
            <a:endParaRPr lang="en-US" sz="1600" dirty="0"/>
          </a:p>
          <a:p>
            <a:pPr algn="ctr" indent="0" marL="0">
              <a:buNone/>
            </a:pPr>
            <a:r>
              <a:rPr lang="en-US" sz="1400" dirty="0">
                <a:solidFill>
                  <a:srgbClr val="FFFFFF"/>
                </a:solidFill>
              </a:rPr>
              <a:t>Browser</a:t>
            </a:r>
            <a:endParaRPr lang="en-US" sz="1600" dirty="0"/>
          </a:p>
        </p:txBody>
      </p:sp>
      <p:sp>
        <p:nvSpPr>
          <p:cNvPr id="6" name="Panah 1"/>
          <p:cNvSpPr/>
          <p:nvPr/>
        </p:nvSpPr>
        <p:spPr>
          <a:xfrm>
            <a:off x="2331720" y="2194560"/>
            <a:ext cx="228600" cy="228600"/>
          </a:xfrm>
          <a:prstGeom prst="rightArrow">
            <a:avLst/>
          </a:prstGeom>
          <a:solidFill>
            <a:srgbClr val="5B6B7B"/>
          </a:solidFill>
          <a:ln w="12700">
            <a:solidFill>
              <a:srgbClr val="5B6B7B"/>
            </a:solidFill>
            <a:prstDash val="solid"/>
          </a:ln>
        </p:spPr>
      </p:sp>
      <p:sp>
        <p:nvSpPr>
          <p:cNvPr id="7" name="Node Hosting"/>
          <p:cNvSpPr/>
          <p:nvPr/>
        </p:nvSpPr>
        <p:spPr>
          <a:xfrm>
            <a:off x="2606040" y="1828800"/>
            <a:ext cx="1828800" cy="960120"/>
          </a:xfrm>
          <a:prstGeom prst="roundRect">
            <a:avLst>
              <a:gd name="adj" fmla="val 7619"/>
            </a:avLst>
          </a:prstGeom>
          <a:solidFill>
            <a:srgbClr val="1F2A37"/>
          </a:solidFill>
          <a:ln w="12700">
            <a:solidFill>
              <a:srgbClr val="1F2A37"/>
            </a:solidFill>
            <a:prstDash val="solid"/>
          </a:ln>
        </p:spPr>
      </p:sp>
      <p:sp>
        <p:nvSpPr>
          <p:cNvPr id="8" name="Text 5"/>
          <p:cNvSpPr txBox="1"/>
          <p:nvPr/>
        </p:nvSpPr>
        <p:spPr>
          <a:xfrm>
            <a:off x="2606040" y="1828800"/>
            <a:ext cx="1828800" cy="960120"/>
          </a:xfrm>
          <a:prstGeom prst="rect">
            <a:avLst/>
          </a:prstGeom>
          <a:noFill/>
          <a:ln/>
        </p:spPr>
        <p:txBody>
          <a:bodyPr wrap="square" lIns="0" tIns="0" rIns="0" bIns="0" rtlCol="0" anchor="ctr"/>
          <a:lstStyle/>
          <a:p>
            <a:pPr algn="ctr" indent="0" marL="0">
              <a:buNone/>
            </a:pPr>
            <a:r>
              <a:rPr lang="en-US" sz="1600" b="1" dirty="0">
                <a:solidFill>
                  <a:srgbClr val="FFFFFF"/>
                </a:solidFill>
              </a:rPr>
              <a:t>Hosting</a:t>
            </a:r>
            <a:endParaRPr lang="en-US" sz="1600" dirty="0"/>
          </a:p>
          <a:p>
            <a:pPr algn="ctr" indent="0" marL="0">
              <a:buNone/>
            </a:pPr>
            <a:r>
              <a:rPr lang="en-US" sz="1400" dirty="0">
                <a:solidFill>
                  <a:srgbClr val="FFFFFF"/>
                </a:solidFill>
              </a:rPr>
              <a:t>PythonAnywhere (HTTPS)</a:t>
            </a:r>
            <a:endParaRPr lang="en-US" sz="1600" dirty="0"/>
          </a:p>
        </p:txBody>
      </p:sp>
      <p:sp>
        <p:nvSpPr>
          <p:cNvPr id="9" name="Panah 2"/>
          <p:cNvSpPr/>
          <p:nvPr/>
        </p:nvSpPr>
        <p:spPr>
          <a:xfrm>
            <a:off x="4480560" y="2194560"/>
            <a:ext cx="228600" cy="228600"/>
          </a:xfrm>
          <a:prstGeom prst="rightArrow">
            <a:avLst/>
          </a:prstGeom>
          <a:solidFill>
            <a:srgbClr val="5B6B7B"/>
          </a:solidFill>
          <a:ln w="12700">
            <a:solidFill>
              <a:srgbClr val="5B6B7B"/>
            </a:solidFill>
            <a:prstDash val="solid"/>
          </a:ln>
        </p:spPr>
      </p:sp>
      <p:sp>
        <p:nvSpPr>
          <p:cNvPr id="10" name="Node Aplikasi"/>
          <p:cNvSpPr/>
          <p:nvPr/>
        </p:nvSpPr>
        <p:spPr>
          <a:xfrm>
            <a:off x="4754880" y="1828800"/>
            <a:ext cx="1828800" cy="960120"/>
          </a:xfrm>
          <a:prstGeom prst="roundRect">
            <a:avLst>
              <a:gd name="adj" fmla="val 7619"/>
            </a:avLst>
          </a:prstGeom>
          <a:solidFill>
            <a:srgbClr val="1F2A37"/>
          </a:solidFill>
          <a:ln w="12700">
            <a:solidFill>
              <a:srgbClr val="1F2A37"/>
            </a:solidFill>
            <a:prstDash val="solid"/>
          </a:ln>
        </p:spPr>
      </p:sp>
      <p:sp>
        <p:nvSpPr>
          <p:cNvPr id="11" name="Text 8"/>
          <p:cNvSpPr txBox="1"/>
          <p:nvPr/>
        </p:nvSpPr>
        <p:spPr>
          <a:xfrm>
            <a:off x="4754880" y="1828800"/>
            <a:ext cx="1828800" cy="960120"/>
          </a:xfrm>
          <a:prstGeom prst="rect">
            <a:avLst/>
          </a:prstGeom>
          <a:noFill/>
          <a:ln/>
        </p:spPr>
        <p:txBody>
          <a:bodyPr wrap="square" lIns="0" tIns="0" rIns="0" bIns="0" rtlCol="0" anchor="ctr"/>
          <a:lstStyle/>
          <a:p>
            <a:pPr algn="ctr" indent="0" marL="0">
              <a:buNone/>
            </a:pPr>
            <a:r>
              <a:rPr lang="en-US" sz="1600" b="1" dirty="0">
                <a:solidFill>
                  <a:srgbClr val="FFFFFF"/>
                </a:solidFill>
              </a:rPr>
              <a:t>Aplikasi</a:t>
            </a:r>
            <a:endParaRPr lang="en-US" sz="1600" dirty="0"/>
          </a:p>
          <a:p>
            <a:pPr algn="ctr" indent="0" marL="0">
              <a:buNone/>
            </a:pPr>
            <a:r>
              <a:rPr lang="en-US" sz="1400" dirty="0">
                <a:solidFill>
                  <a:srgbClr val="FFFFFF"/>
                </a:solidFill>
              </a:rPr>
              <a:t>Flask + Pandas</a:t>
            </a:r>
            <a:endParaRPr lang="en-US" sz="1600" dirty="0"/>
          </a:p>
        </p:txBody>
      </p:sp>
      <p:sp>
        <p:nvSpPr>
          <p:cNvPr id="12" name="Panah 3"/>
          <p:cNvSpPr/>
          <p:nvPr/>
        </p:nvSpPr>
        <p:spPr>
          <a:xfrm>
            <a:off x="6629400" y="2194560"/>
            <a:ext cx="228600" cy="228600"/>
          </a:xfrm>
          <a:prstGeom prst="rightArrow">
            <a:avLst/>
          </a:prstGeom>
          <a:solidFill>
            <a:srgbClr val="5B6B7B"/>
          </a:solidFill>
          <a:ln w="12700">
            <a:solidFill>
              <a:srgbClr val="5B6B7B"/>
            </a:solidFill>
            <a:prstDash val="solid"/>
          </a:ln>
        </p:spPr>
      </p:sp>
      <p:sp>
        <p:nvSpPr>
          <p:cNvPr id="13" name="Node Database"/>
          <p:cNvSpPr/>
          <p:nvPr/>
        </p:nvSpPr>
        <p:spPr>
          <a:xfrm>
            <a:off x="6903720" y="1828800"/>
            <a:ext cx="1828800" cy="960120"/>
          </a:xfrm>
          <a:prstGeom prst="roundRect">
            <a:avLst>
              <a:gd name="adj" fmla="val 7619"/>
            </a:avLst>
          </a:prstGeom>
          <a:solidFill>
            <a:srgbClr val="1F2A37"/>
          </a:solidFill>
          <a:ln w="12700">
            <a:solidFill>
              <a:srgbClr val="1F2A37"/>
            </a:solidFill>
            <a:prstDash val="solid"/>
          </a:ln>
        </p:spPr>
      </p:sp>
      <p:sp>
        <p:nvSpPr>
          <p:cNvPr id="14" name="Text 11"/>
          <p:cNvSpPr txBox="1"/>
          <p:nvPr/>
        </p:nvSpPr>
        <p:spPr>
          <a:xfrm>
            <a:off x="6903720" y="1828800"/>
            <a:ext cx="1828800" cy="960120"/>
          </a:xfrm>
          <a:prstGeom prst="rect">
            <a:avLst/>
          </a:prstGeom>
          <a:noFill/>
          <a:ln/>
        </p:spPr>
        <p:txBody>
          <a:bodyPr wrap="square" lIns="0" tIns="0" rIns="0" bIns="0" rtlCol="0" anchor="ctr"/>
          <a:lstStyle/>
          <a:p>
            <a:pPr algn="ctr" indent="0" marL="0">
              <a:buNone/>
            </a:pPr>
            <a:r>
              <a:rPr lang="en-US" sz="1600" b="1" dirty="0">
                <a:solidFill>
                  <a:srgbClr val="FFFFFF"/>
                </a:solidFill>
              </a:rPr>
              <a:t>Database</a:t>
            </a:r>
            <a:endParaRPr lang="en-US" sz="1600" dirty="0"/>
          </a:p>
          <a:p>
            <a:pPr algn="ctr" indent="0" marL="0">
              <a:buNone/>
            </a:pPr>
            <a:r>
              <a:rPr lang="en-US" sz="1400" dirty="0">
                <a:solidFill>
                  <a:srgbClr val="FFFFFF"/>
                </a:solidFill>
              </a:rPr>
              <a:t>SQLite (demo)</a:t>
            </a:r>
            <a:endParaRPr lang="en-US" sz="1600" dirty="0"/>
          </a:p>
        </p:txBody>
      </p:sp>
      <p:sp>
        <p:nvSpPr>
          <p:cNvPr id="15" name="Node CDN"/>
          <p:cNvSpPr/>
          <p:nvPr/>
        </p:nvSpPr>
        <p:spPr>
          <a:xfrm>
            <a:off x="457200" y="1143000"/>
            <a:ext cx="3931920" cy="457200"/>
          </a:xfrm>
          <a:prstGeom prst="roundRect">
            <a:avLst>
              <a:gd name="adj" fmla="val 16000"/>
            </a:avLst>
          </a:prstGeom>
          <a:solidFill>
            <a:srgbClr val="E6EAEF"/>
          </a:solidFill>
          <a:ln w="9525">
            <a:solidFill>
              <a:srgbClr val="5B6B7B"/>
            </a:solidFill>
            <a:prstDash val="dash"/>
          </a:ln>
        </p:spPr>
      </p:sp>
      <p:sp>
        <p:nvSpPr>
          <p:cNvPr id="16" name="Text 13"/>
          <p:cNvSpPr txBox="1"/>
          <p:nvPr/>
        </p:nvSpPr>
        <p:spPr>
          <a:xfrm>
            <a:off x="457200" y="1143000"/>
            <a:ext cx="3931920" cy="457200"/>
          </a:xfrm>
          <a:prstGeom prst="rect">
            <a:avLst/>
          </a:prstGeom>
          <a:noFill/>
          <a:ln/>
        </p:spPr>
        <p:txBody>
          <a:bodyPr wrap="square" lIns="0" tIns="0" rIns="0" bIns="0" rtlCol="0" anchor="ctr"/>
          <a:lstStyle/>
          <a:p>
            <a:pPr algn="ctr" indent="0" marL="0">
              <a:buNone/>
            </a:pPr>
            <a:r>
              <a:rPr lang="en-US" sz="1400" dirty="0">
                <a:solidFill>
                  <a:srgbClr val="1F2A37"/>
                </a:solidFill>
              </a:rPr>
              <a:t>CDN: Bootstrap dan Plotly</a:t>
            </a:r>
            <a:endParaRPr lang="en-US" sz="1400" dirty="0"/>
          </a:p>
        </p:txBody>
      </p:sp>
      <p:sp>
        <p:nvSpPr>
          <p:cNvPr id="17" name="Node GitHub"/>
          <p:cNvSpPr/>
          <p:nvPr/>
        </p:nvSpPr>
        <p:spPr>
          <a:xfrm>
            <a:off x="4754880" y="1143000"/>
            <a:ext cx="3931920" cy="457200"/>
          </a:xfrm>
          <a:prstGeom prst="roundRect">
            <a:avLst>
              <a:gd name="adj" fmla="val 16000"/>
            </a:avLst>
          </a:prstGeom>
          <a:solidFill>
            <a:srgbClr val="E6EAEF"/>
          </a:solidFill>
          <a:ln w="9525">
            <a:solidFill>
              <a:srgbClr val="5B6B7B"/>
            </a:solidFill>
            <a:prstDash val="dash"/>
          </a:ln>
        </p:spPr>
      </p:sp>
      <p:sp>
        <p:nvSpPr>
          <p:cNvPr id="18" name="Text 15"/>
          <p:cNvSpPr txBox="1"/>
          <p:nvPr/>
        </p:nvSpPr>
        <p:spPr>
          <a:xfrm>
            <a:off x="4754880" y="1143000"/>
            <a:ext cx="3931920" cy="457200"/>
          </a:xfrm>
          <a:prstGeom prst="rect">
            <a:avLst/>
          </a:prstGeom>
          <a:noFill/>
          <a:ln/>
        </p:spPr>
        <p:txBody>
          <a:bodyPr wrap="square" lIns="0" tIns="0" rIns="0" bIns="0" rtlCol="0" anchor="ctr"/>
          <a:lstStyle/>
          <a:p>
            <a:pPr algn="ctr" indent="0" marL="0">
              <a:buNone/>
            </a:pPr>
            <a:r>
              <a:rPr lang="en-US" sz="1400" dirty="0">
                <a:solidFill>
                  <a:srgbClr val="1F2A37"/>
                </a:solidFill>
              </a:rPr>
              <a:t>GitHub: kode dan data demo</a:t>
            </a:r>
            <a:endParaRPr lang="en-US" sz="1400" dirty="0"/>
          </a:p>
        </p:txBody>
      </p:sp>
      <p:sp>
        <p:nvSpPr>
          <p:cNvPr id="19" name="Nomor 1"/>
          <p:cNvSpPr/>
          <p:nvPr/>
        </p:nvSpPr>
        <p:spPr>
          <a:xfrm>
            <a:off x="457200" y="3108960"/>
            <a:ext cx="384048" cy="384048"/>
          </a:xfrm>
          <a:prstGeom prst="ellipse">
            <a:avLst/>
          </a:prstGeom>
          <a:solidFill>
            <a:srgbClr val="D64933"/>
          </a:solidFill>
          <a:ln w="12700">
            <a:solidFill>
              <a:srgbClr val="D64933"/>
            </a:solidFill>
            <a:prstDash val="solid"/>
          </a:ln>
        </p:spPr>
      </p:sp>
      <p:sp>
        <p:nvSpPr>
          <p:cNvPr id="20" name="Text 17"/>
          <p:cNvSpPr txBox="1"/>
          <p:nvPr/>
        </p:nvSpPr>
        <p:spPr>
          <a:xfrm>
            <a:off x="457200" y="3108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1" name="Text 18"/>
          <p:cNvSpPr txBox="1"/>
          <p:nvPr/>
        </p:nvSpPr>
        <p:spPr>
          <a:xfrm>
            <a:off x="960120" y="3108960"/>
            <a:ext cx="2194560" cy="384048"/>
          </a:xfrm>
          <a:prstGeom prst="rect">
            <a:avLst/>
          </a:prstGeom>
          <a:noFill/>
          <a:ln/>
        </p:spPr>
        <p:txBody>
          <a:bodyPr wrap="square" lIns="0" tIns="0" rIns="0" bIns="0" rtlCol="0" anchor="ctr"/>
          <a:lstStyle/>
          <a:p>
            <a:pPr indent="0" marL="0">
              <a:buNone/>
            </a:pPr>
            <a:r>
              <a:rPr lang="en-US" sz="1400" dirty="0">
                <a:solidFill>
                  <a:srgbClr val="1F2A37"/>
                </a:solidFill>
              </a:rPr>
              <a:t>Parameter filter di URL</a:t>
            </a:r>
            <a:endParaRPr lang="en-US" sz="1400" dirty="0"/>
          </a:p>
        </p:txBody>
      </p:sp>
      <p:sp>
        <p:nvSpPr>
          <p:cNvPr id="22" name="Nomor 2"/>
          <p:cNvSpPr/>
          <p:nvPr/>
        </p:nvSpPr>
        <p:spPr>
          <a:xfrm>
            <a:off x="3246120" y="3108960"/>
            <a:ext cx="384048" cy="384048"/>
          </a:xfrm>
          <a:prstGeom prst="ellipse">
            <a:avLst/>
          </a:prstGeom>
          <a:solidFill>
            <a:srgbClr val="D64933"/>
          </a:solidFill>
          <a:ln w="12700">
            <a:solidFill>
              <a:srgbClr val="D64933"/>
            </a:solidFill>
            <a:prstDash val="solid"/>
          </a:ln>
        </p:spPr>
      </p:sp>
      <p:sp>
        <p:nvSpPr>
          <p:cNvPr id="23" name="Text 20"/>
          <p:cNvSpPr txBox="1"/>
          <p:nvPr/>
        </p:nvSpPr>
        <p:spPr>
          <a:xfrm>
            <a:off x="3246120" y="3108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4" name="Text 21"/>
          <p:cNvSpPr txBox="1"/>
          <p:nvPr/>
        </p:nvSpPr>
        <p:spPr>
          <a:xfrm>
            <a:off x="3749040" y="3108960"/>
            <a:ext cx="2194560" cy="384048"/>
          </a:xfrm>
          <a:prstGeom prst="rect">
            <a:avLst/>
          </a:prstGeom>
          <a:noFill/>
          <a:ln/>
        </p:spPr>
        <p:txBody>
          <a:bodyPr wrap="square" lIns="0" tIns="0" rIns="0" bIns="0" rtlCol="0" anchor="ctr"/>
          <a:lstStyle/>
          <a:p>
            <a:pPr indent="0" marL="0">
              <a:buNone/>
            </a:pPr>
            <a:r>
              <a:rPr lang="en-US" sz="1400" dirty="0">
                <a:solidFill>
                  <a:srgbClr val="1F2A37"/>
                </a:solidFill>
              </a:rPr>
              <a:t>Akses tanpa login</a:t>
            </a:r>
            <a:endParaRPr lang="en-US" sz="1400" dirty="0"/>
          </a:p>
        </p:txBody>
      </p:sp>
      <p:sp>
        <p:nvSpPr>
          <p:cNvPr id="25" name="Nomor 3"/>
          <p:cNvSpPr/>
          <p:nvPr/>
        </p:nvSpPr>
        <p:spPr>
          <a:xfrm>
            <a:off x="6035040" y="3108960"/>
            <a:ext cx="384048" cy="384048"/>
          </a:xfrm>
          <a:prstGeom prst="ellipse">
            <a:avLst/>
          </a:prstGeom>
          <a:solidFill>
            <a:srgbClr val="D64933"/>
          </a:solidFill>
          <a:ln w="12700">
            <a:solidFill>
              <a:srgbClr val="D64933"/>
            </a:solidFill>
            <a:prstDash val="solid"/>
          </a:ln>
        </p:spPr>
      </p:sp>
      <p:sp>
        <p:nvSpPr>
          <p:cNvPr id="26" name="Text 23"/>
          <p:cNvSpPr txBox="1"/>
          <p:nvPr/>
        </p:nvSpPr>
        <p:spPr>
          <a:xfrm>
            <a:off x="6035040" y="3108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7" name="Text 24"/>
          <p:cNvSpPr txBox="1"/>
          <p:nvPr/>
        </p:nvSpPr>
        <p:spPr>
          <a:xfrm>
            <a:off x="6537960" y="3108960"/>
            <a:ext cx="2194560" cy="384048"/>
          </a:xfrm>
          <a:prstGeom prst="rect">
            <a:avLst/>
          </a:prstGeom>
          <a:noFill/>
          <a:ln/>
        </p:spPr>
        <p:txBody>
          <a:bodyPr wrap="square" lIns="0" tIns="0" rIns="0" bIns="0" rtlCol="0" anchor="ctr"/>
          <a:lstStyle/>
          <a:p>
            <a:pPr indent="0" marL="0">
              <a:buNone/>
            </a:pPr>
            <a:r>
              <a:rPr lang="en-US" sz="1400" dirty="0">
                <a:solidFill>
                  <a:srgbClr val="1F2A37"/>
                </a:solidFill>
              </a:rPr>
              <a:t>Skrip dari CDN</a:t>
            </a:r>
            <a:endParaRPr lang="en-US" sz="1400" dirty="0"/>
          </a:p>
        </p:txBody>
      </p:sp>
      <p:sp>
        <p:nvSpPr>
          <p:cNvPr id="28" name="Nomor 4"/>
          <p:cNvSpPr/>
          <p:nvPr/>
        </p:nvSpPr>
        <p:spPr>
          <a:xfrm>
            <a:off x="457200" y="3675888"/>
            <a:ext cx="384048" cy="384048"/>
          </a:xfrm>
          <a:prstGeom prst="ellipse">
            <a:avLst/>
          </a:prstGeom>
          <a:solidFill>
            <a:srgbClr val="D64933"/>
          </a:solidFill>
          <a:ln w="12700">
            <a:solidFill>
              <a:srgbClr val="D64933"/>
            </a:solidFill>
            <a:prstDash val="solid"/>
          </a:ln>
        </p:spPr>
      </p:sp>
      <p:sp>
        <p:nvSpPr>
          <p:cNvPr id="29" name="Text 26"/>
          <p:cNvSpPr txBox="1"/>
          <p:nvPr/>
        </p:nvSpPr>
        <p:spPr>
          <a:xfrm>
            <a:off x="457200" y="3675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0" name="Text 27"/>
          <p:cNvSpPr txBox="1"/>
          <p:nvPr/>
        </p:nvSpPr>
        <p:spPr>
          <a:xfrm>
            <a:off x="960120" y="3675888"/>
            <a:ext cx="2194560" cy="384048"/>
          </a:xfrm>
          <a:prstGeom prst="rect">
            <a:avLst/>
          </a:prstGeom>
          <a:noFill/>
          <a:ln/>
        </p:spPr>
        <p:txBody>
          <a:bodyPr wrap="square" lIns="0" tIns="0" rIns="0" bIns="0" rtlCol="0" anchor="ctr"/>
          <a:lstStyle/>
          <a:p>
            <a:pPr indent="0" marL="0">
              <a:buNone/>
            </a:pPr>
            <a:r>
              <a:rPr lang="en-US" sz="1400" dirty="0">
                <a:solidFill>
                  <a:srgbClr val="1F2A37"/>
                </a:solidFill>
              </a:rPr>
              <a:t>Repositori publik</a:t>
            </a:r>
            <a:endParaRPr lang="en-US" sz="1400" dirty="0"/>
          </a:p>
        </p:txBody>
      </p:sp>
      <p:sp>
        <p:nvSpPr>
          <p:cNvPr id="31" name="Nomor 5"/>
          <p:cNvSpPr/>
          <p:nvPr/>
        </p:nvSpPr>
        <p:spPr>
          <a:xfrm>
            <a:off x="3246120" y="3675888"/>
            <a:ext cx="384048" cy="384048"/>
          </a:xfrm>
          <a:prstGeom prst="ellipse">
            <a:avLst/>
          </a:prstGeom>
          <a:solidFill>
            <a:srgbClr val="D64933"/>
          </a:solidFill>
          <a:ln w="12700">
            <a:solidFill>
              <a:srgbClr val="D64933"/>
            </a:solidFill>
            <a:prstDash val="solid"/>
          </a:ln>
        </p:spPr>
      </p:sp>
      <p:sp>
        <p:nvSpPr>
          <p:cNvPr id="32" name="Text 29"/>
          <p:cNvSpPr txBox="1"/>
          <p:nvPr/>
        </p:nvSpPr>
        <p:spPr>
          <a:xfrm>
            <a:off x="3246120" y="3675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3" name="Text 30"/>
          <p:cNvSpPr txBox="1"/>
          <p:nvPr/>
        </p:nvSpPr>
        <p:spPr>
          <a:xfrm>
            <a:off x="3749040" y="3675888"/>
            <a:ext cx="2194560" cy="384048"/>
          </a:xfrm>
          <a:prstGeom prst="rect">
            <a:avLst/>
          </a:prstGeom>
          <a:noFill/>
          <a:ln/>
        </p:spPr>
        <p:txBody>
          <a:bodyPr wrap="square" lIns="0" tIns="0" rIns="0" bIns="0" rtlCol="0" anchor="ctr"/>
          <a:lstStyle/>
          <a:p>
            <a:pPr indent="0" marL="0">
              <a:buNone/>
            </a:pPr>
            <a:r>
              <a:rPr lang="en-US" sz="1400" dirty="0">
                <a:solidFill>
                  <a:srgbClr val="1F2A37"/>
                </a:solidFill>
              </a:rPr>
              <a:t>Konfigurasi dan kredensial</a:t>
            </a:r>
            <a:endParaRPr lang="en-US" sz="1400" dirty="0"/>
          </a:p>
        </p:txBody>
      </p:sp>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F2A37"/>
                </a:solidFill>
                <a:latin typeface="Cambria" pitchFamily="34" charset="0"/>
                <a:ea typeface="Cambria" pitchFamily="34" charset="-122"/>
                <a:cs typeface="Cambria" pitchFamily="34" charset="-120"/>
              </a:rPr>
              <a:t>Ringkasan delapan temuan</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457200"/>
                <a:gridCol w="3063240"/>
                <a:gridCol w="1920240"/>
                <a:gridCol w="914400"/>
                <a:gridCol w="1874520"/>
              </a:tblGrid>
              <a:tr h="34747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1F2A3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Temuan</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1F2A3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Kategori OWASP</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1F2A3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Tingkat</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1F2A3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1F2A37"/>
                    </a:solidFill>
                  </a:tcPr>
                </a:tc>
              </a:tr>
              <a:tr h="347472">
                <a:tc>
                  <a:txBody>
                    <a:bodyPr/>
                    <a:lstStyle/>
                    <a:p>
                      <a:pPr algn="ctr" indent="0" marL="0">
                        <a:buNone/>
                      </a:pPr>
                      <a:r>
                        <a:rPr lang="en-US" sz="1400" dirty="0">
                          <a:solidFill>
                            <a:srgbClr val="1F2A3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Dashboard tanpa autentikasi</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c>
                  <a:txBody>
                    <a:bodyPr/>
                    <a:lstStyle/>
                    <a:p>
                      <a:pPr indent="0" marL="0">
                        <a:buNone/>
                      </a:pPr>
                      <a:r>
                        <a:rPr lang="en-US" sz="1400" dirty="0">
                          <a:solidFill>
                            <a:srgbClr val="5B6B7B"/>
                          </a:solidFill>
                          <a:latin typeface="Calibri" pitchFamily="34" charset="0"/>
                          <a:ea typeface="Calibri" pitchFamily="34" charset="-122"/>
                          <a:cs typeface="Calibri" pitchFamily="34" charset="-120"/>
                        </a:rPr>
                        <a:t>A01 Access Control</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A37"/>
                          </a:solidFill>
                          <a:latin typeface="Calibri" pitchFamily="34" charset="0"/>
                          <a:ea typeface="Calibri" pitchFamily="34" charset="-122"/>
                          <a:cs typeface="Calibri" pitchFamily="34" charset="-120"/>
                        </a:rPr>
                        <a:t>Sedang</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2B134"/>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Mitigasi tersedia</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r>
              <a:tr h="347472">
                <a:tc>
                  <a:txBody>
                    <a:bodyPr/>
                    <a:lstStyle/>
                    <a:p>
                      <a:pPr algn="ctr" indent="0" marL="0">
                        <a:buNone/>
                      </a:pPr>
                      <a:r>
                        <a:rPr lang="en-US" sz="1400" dirty="0">
                          <a:solidFill>
                            <a:srgbClr val="1F2A37"/>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Header keamanan HTTP belum ada</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c>
                  <a:txBody>
                    <a:bodyPr/>
                    <a:lstStyle/>
                    <a:p>
                      <a:pPr indent="0" marL="0">
                        <a:buNone/>
                      </a:pPr>
                      <a:r>
                        <a:rPr lang="en-US" sz="1400" dirty="0">
                          <a:solidFill>
                            <a:srgbClr val="5B6B7B"/>
                          </a:solidFill>
                          <a:latin typeface="Calibri" pitchFamily="34" charset="0"/>
                          <a:ea typeface="Calibri" pitchFamily="34" charset="-122"/>
                          <a:cs typeface="Calibri" pitchFamily="34" charset="-120"/>
                        </a:rPr>
                        <a:t>A05 Misconfiguration</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c>
                  <a:txBody>
                    <a:bodyPr/>
                    <a:lstStyle/>
                    <a:p>
                      <a:pPr algn="ctr" indent="0" marL="0">
                        <a:buNone/>
                      </a:pPr>
                      <a:r>
                        <a:rPr lang="en-US" sz="1400" b="1" dirty="0">
                          <a:solidFill>
                            <a:srgbClr val="1F2A37"/>
                          </a:solidFill>
                          <a:latin typeface="Calibri" pitchFamily="34" charset="0"/>
                          <a:ea typeface="Calibri" pitchFamily="34" charset="-122"/>
                          <a:cs typeface="Calibri" pitchFamily="34" charset="-120"/>
                        </a:rPr>
                        <a:t>Sedang</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2B134"/>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Diperbaiki</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r>
              <a:tr h="347472">
                <a:tc>
                  <a:txBody>
                    <a:bodyPr/>
                    <a:lstStyle/>
                    <a:p>
                      <a:pPr algn="ctr" indent="0" marL="0">
                        <a:buNone/>
                      </a:pPr>
                      <a:r>
                        <a:rPr lang="en-US" sz="1400" dirty="0">
                          <a:solidFill>
                            <a:srgbClr val="1F2A37"/>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Mode debug tertulis permanen</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c>
                  <a:txBody>
                    <a:bodyPr/>
                    <a:lstStyle/>
                    <a:p>
                      <a:pPr indent="0" marL="0">
                        <a:buNone/>
                      </a:pPr>
                      <a:r>
                        <a:rPr lang="en-US" sz="1400" dirty="0">
                          <a:solidFill>
                            <a:srgbClr val="5B6B7B"/>
                          </a:solidFill>
                          <a:latin typeface="Calibri" pitchFamily="34" charset="0"/>
                          <a:ea typeface="Calibri" pitchFamily="34" charset="-122"/>
                          <a:cs typeface="Calibri" pitchFamily="34" charset="-120"/>
                        </a:rPr>
                        <a:t>A05 Misconfiguration</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A37"/>
                          </a:solidFill>
                          <a:latin typeface="Calibri" pitchFamily="34" charset="0"/>
                          <a:ea typeface="Calibri" pitchFamily="34" charset="-122"/>
                          <a:cs typeface="Calibri" pitchFamily="34" charset="-120"/>
                        </a:rPr>
                        <a:t>Sedang</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2B134"/>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Diperbaiki</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r>
              <a:tr h="347472">
                <a:tc>
                  <a:txBody>
                    <a:bodyPr/>
                    <a:lstStyle/>
                    <a:p>
                      <a:pPr algn="ctr" indent="0" marL="0">
                        <a:buNone/>
                      </a:pPr>
                      <a:r>
                        <a:rPr lang="en-US" sz="1400" dirty="0">
                          <a:solidFill>
                            <a:srgbClr val="1F2A37"/>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Kredensial database bawaan lemah</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c>
                  <a:txBody>
                    <a:bodyPr/>
                    <a:lstStyle/>
                    <a:p>
                      <a:pPr indent="0" marL="0">
                        <a:buNone/>
                      </a:pPr>
                      <a:r>
                        <a:rPr lang="en-US" sz="1400" dirty="0">
                          <a:solidFill>
                            <a:srgbClr val="5B6B7B"/>
                          </a:solidFill>
                          <a:latin typeface="Calibri" pitchFamily="34" charset="0"/>
                          <a:ea typeface="Calibri" pitchFamily="34" charset="-122"/>
                          <a:cs typeface="Calibri" pitchFamily="34" charset="-120"/>
                        </a:rPr>
                        <a:t>A07 Authentication</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c>
                  <a:txBody>
                    <a:bodyPr/>
                    <a:lstStyle/>
                    <a:p>
                      <a:pPr algn="ctr" indent="0" marL="0">
                        <a:buNone/>
                      </a:pPr>
                      <a:r>
                        <a:rPr lang="en-US" sz="1400" b="1" dirty="0">
                          <a:solidFill>
                            <a:srgbClr val="1F2A37"/>
                          </a:solidFill>
                          <a:latin typeface="Calibri" pitchFamily="34" charset="0"/>
                          <a:ea typeface="Calibri" pitchFamily="34" charset="-122"/>
                          <a:cs typeface="Calibri" pitchFamily="34" charset="-120"/>
                        </a:rPr>
                        <a:t>Sedang</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2B134"/>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Rekomendasi</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r>
              <a:tr h="347472">
                <a:tc>
                  <a:txBody>
                    <a:bodyPr/>
                    <a:lstStyle/>
                    <a:p>
                      <a:pPr algn="ctr" indent="0" marL="0">
                        <a:buNone/>
                      </a:pPr>
                      <a:r>
                        <a:rPr lang="en-US" sz="1400" dirty="0">
                          <a:solidFill>
                            <a:srgbClr val="1F2A37"/>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Skrip CDN tanpa SRI</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c>
                  <a:txBody>
                    <a:bodyPr/>
                    <a:lstStyle/>
                    <a:p>
                      <a:pPr indent="0" marL="0">
                        <a:buNone/>
                      </a:pPr>
                      <a:r>
                        <a:rPr lang="en-US" sz="1400" dirty="0">
                          <a:solidFill>
                            <a:srgbClr val="5B6B7B"/>
                          </a:solidFill>
                          <a:latin typeface="Calibri" pitchFamily="34" charset="0"/>
                          <a:ea typeface="Calibri" pitchFamily="34" charset="-122"/>
                          <a:cs typeface="Calibri" pitchFamily="34" charset="-120"/>
                        </a:rPr>
                        <a:t>A08 Integrity</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Rendah</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0E7C73"/>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Rekomendasi</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r>
              <a:tr h="347472">
                <a:tc>
                  <a:txBody>
                    <a:bodyPr/>
                    <a:lstStyle/>
                    <a:p>
                      <a:pPr algn="ctr" indent="0" marL="0">
                        <a:buNone/>
                      </a:pPr>
                      <a:r>
                        <a:rPr lang="en-US" sz="1400" dirty="0">
                          <a:solidFill>
                            <a:srgbClr val="1F2A37"/>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Tanpa pembatasan laju</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c>
                  <a:txBody>
                    <a:bodyPr/>
                    <a:lstStyle/>
                    <a:p>
                      <a:pPr indent="0" marL="0">
                        <a:buNone/>
                      </a:pPr>
                      <a:r>
                        <a:rPr lang="en-US" sz="1400" dirty="0">
                          <a:solidFill>
                            <a:srgbClr val="5B6B7B"/>
                          </a:solidFill>
                          <a:latin typeface="Calibri" pitchFamily="34" charset="0"/>
                          <a:ea typeface="Calibri" pitchFamily="34" charset="-122"/>
                          <a:cs typeface="Calibri" pitchFamily="34" charset="-120"/>
                        </a:rPr>
                        <a:t>A04 Insecure Design</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Rendah</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0E7C73"/>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Sebagian</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r>
              <a:tr h="347472">
                <a:tc>
                  <a:txBody>
                    <a:bodyPr/>
                    <a:lstStyle/>
                    <a:p>
                      <a:pPr algn="ctr" indent="0" marL="0">
                        <a:buNone/>
                      </a:pPr>
                      <a:r>
                        <a:rPr lang="en-US" sz="1400" dirty="0">
                          <a:solidFill>
                            <a:srgbClr val="1F2A37"/>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Data demo di repositori publik</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c>
                  <a:txBody>
                    <a:bodyPr/>
                    <a:lstStyle/>
                    <a:p>
                      <a:pPr indent="0" marL="0">
                        <a:buNone/>
                      </a:pPr>
                      <a:r>
                        <a:rPr lang="en-US" sz="1400" dirty="0">
                          <a:solidFill>
                            <a:srgbClr val="5B6B7B"/>
                          </a:solidFill>
                          <a:latin typeface="Calibri" pitchFamily="34" charset="0"/>
                          <a:ea typeface="Calibri" pitchFamily="34" charset="-122"/>
                          <a:cs typeface="Calibri" pitchFamily="34" charset="-120"/>
                        </a:rPr>
                        <a:t>A01 Access Control</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Rendah</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0E7C73"/>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Sebagian</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FFFFFF"/>
                    </a:solidFill>
                  </a:tcPr>
                </a:tc>
              </a:tr>
              <a:tr h="347472">
                <a:tc>
                  <a:txBody>
                    <a:bodyPr/>
                    <a:lstStyle/>
                    <a:p>
                      <a:pPr algn="ctr" indent="0" marL="0">
                        <a:buNone/>
                      </a:pPr>
                      <a:r>
                        <a:rPr lang="en-US" sz="1400" dirty="0">
                          <a:solidFill>
                            <a:srgbClr val="1F2A37"/>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Dependensi belum diaudit</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c>
                  <a:txBody>
                    <a:bodyPr/>
                    <a:lstStyle/>
                    <a:p>
                      <a:pPr indent="0" marL="0">
                        <a:buNone/>
                      </a:pPr>
                      <a:r>
                        <a:rPr lang="en-US" sz="1400" dirty="0">
                          <a:solidFill>
                            <a:srgbClr val="5B6B7B"/>
                          </a:solidFill>
                          <a:latin typeface="Calibri" pitchFamily="34" charset="0"/>
                          <a:ea typeface="Calibri" pitchFamily="34" charset="-122"/>
                          <a:cs typeface="Calibri" pitchFamily="34" charset="-120"/>
                        </a:rPr>
                        <a:t>A06 Vulnerable Comp.</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Rendah</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0E7C73"/>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Rekomendasi</a:t>
                      </a:r>
                      <a:endParaRPr lang="en-US" sz="1400" dirty="0">
                        <a:latin typeface="Calibri" charset="0"/>
                        <a:ea typeface="Calibri" charset="0"/>
                        <a:cs typeface="Calibri" charset="0"/>
                      </a:endParaRPr>
                    </a:p>
                  </a:txBody>
                  <a:tcPr marL="73152" marR="73152" marT="18288" marB="18288" anchor="ctr">
                    <a:lnL w="6350" cap="flat" cmpd="sng" algn="ctr">
                      <a:solidFill>
                        <a:srgbClr val="E6EAEF"/>
                      </a:solidFill>
                      <a:prstDash val="solid"/>
                      <a:round/>
                      <a:headEnd type="none" w="med" len="med"/>
                      <a:tailEnd type="none" w="med" len="med"/>
                    </a:lnL>
                    <a:lnR w="6350" cap="flat" cmpd="sng" algn="ctr">
                      <a:solidFill>
                        <a:srgbClr val="E6EAEF"/>
                      </a:solidFill>
                      <a:prstDash val="solid"/>
                      <a:round/>
                      <a:headEnd type="none" w="med" len="med"/>
                      <a:tailEnd type="none" w="med" len="med"/>
                    </a:lnR>
                    <a:lnT w="6350" cap="flat" cmpd="sng" algn="ctr">
                      <a:solidFill>
                        <a:srgbClr val="E6EAEF"/>
                      </a:solidFill>
                      <a:prstDash val="solid"/>
                      <a:round/>
                      <a:headEnd type="none" w="med" len="med"/>
                      <a:tailEnd type="none" w="med" len="med"/>
                    </a:lnT>
                    <a:lnB w="6350" cap="flat" cmpd="sng" algn="ctr">
                      <a:solidFill>
                        <a:srgbClr val="E6EAEF"/>
                      </a:solidFill>
                      <a:prstDash val="solid"/>
                      <a:round/>
                      <a:headEnd type="none" w="med" len="med"/>
                      <a:tailEnd type="none" w="med" len="med"/>
                    </a:lnB>
                    <a:solidFill>
                      <a:srgbClr val="E6EAEF"/>
                    </a:solidFill>
                  </a:tcPr>
                </a:tc>
              </a:tr>
            </a:tbl>
          </a:graphicData>
        </a:graphic>
      </p:graphicFrame>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F2A37"/>
                </a:solidFill>
                <a:latin typeface="Cambria" pitchFamily="34" charset="0"/>
                <a:ea typeface="Cambria" pitchFamily="34" charset="-122"/>
                <a:cs typeface="Cambria" pitchFamily="34" charset="-120"/>
              </a:rPr>
              <a:t>Temuan 1 dan 2: akses dan header</a:t>
            </a:r>
            <a:endParaRPr lang="en-US" sz="3200" dirty="0"/>
          </a:p>
        </p:txBody>
      </p:sp>
      <p:sp>
        <p:nvSpPr>
          <p:cNvPr id="4" name="Temuan 1"/>
          <p:cNvSpPr/>
          <p:nvPr/>
        </p:nvSpPr>
        <p:spPr>
          <a:xfrm>
            <a:off x="457200" y="1097280"/>
            <a:ext cx="4023360" cy="31546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5" name="Nomor 1"/>
          <p:cNvSpPr/>
          <p:nvPr/>
        </p:nvSpPr>
        <p:spPr>
          <a:xfrm>
            <a:off x="640080" y="1280160"/>
            <a:ext cx="384048" cy="384048"/>
          </a:xfrm>
          <a:prstGeom prst="ellipse">
            <a:avLst/>
          </a:prstGeom>
          <a:solidFill>
            <a:srgbClr val="D64933"/>
          </a:solidFill>
          <a:ln w="12700">
            <a:solidFill>
              <a:srgbClr val="D64933"/>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143000" y="1234440"/>
            <a:ext cx="3154680" cy="502920"/>
          </a:xfrm>
          <a:prstGeom prst="rect">
            <a:avLst/>
          </a:prstGeom>
          <a:noFill/>
          <a:ln/>
        </p:spPr>
        <p:txBody>
          <a:bodyPr wrap="square" lIns="0" tIns="0" rIns="0" bIns="0" rtlCol="0" anchor="ctr"/>
          <a:lstStyle/>
          <a:p>
            <a:pPr indent="0" marL="0">
              <a:buNone/>
            </a:pPr>
            <a:r>
              <a:rPr lang="en-US" sz="1600" b="1" dirty="0">
                <a:solidFill>
                  <a:srgbClr val="1F2A37"/>
                </a:solidFill>
                <a:latin typeface="Cambria" pitchFamily="34" charset="0"/>
                <a:ea typeface="Cambria" pitchFamily="34" charset="-122"/>
                <a:cs typeface="Cambria" pitchFamily="34" charset="-120"/>
              </a:rPr>
              <a:t>Dashboard terbuka tanpa autentikasi</a:t>
            </a:r>
            <a:endParaRPr lang="en-US" sz="1600" dirty="0"/>
          </a:p>
        </p:txBody>
      </p:sp>
      <p:sp>
        <p:nvSpPr>
          <p:cNvPr id="8" name="Chip Sedang"/>
          <p:cNvSpPr/>
          <p:nvPr/>
        </p:nvSpPr>
        <p:spPr>
          <a:xfrm>
            <a:off x="640080" y="1828800"/>
            <a:ext cx="914400" cy="274320"/>
          </a:xfrm>
          <a:prstGeom prst="roundRect">
            <a:avLst>
              <a:gd name="adj" fmla="val 40000"/>
            </a:avLst>
          </a:prstGeom>
          <a:solidFill>
            <a:srgbClr val="F2B134"/>
          </a:solidFill>
          <a:ln w="12700">
            <a:solidFill>
              <a:srgbClr val="F2B134"/>
            </a:solidFill>
            <a:prstDash val="solid"/>
          </a:ln>
        </p:spPr>
      </p:sp>
      <p:sp>
        <p:nvSpPr>
          <p:cNvPr id="9" name="Text 6"/>
          <p:cNvSpPr txBox="1"/>
          <p:nvPr/>
        </p:nvSpPr>
        <p:spPr>
          <a:xfrm>
            <a:off x="640080" y="1828800"/>
            <a:ext cx="914400" cy="274320"/>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SEDANG</a:t>
            </a:r>
            <a:endParaRPr lang="en-US" sz="1100" dirty="0"/>
          </a:p>
        </p:txBody>
      </p:sp>
      <p:sp>
        <p:nvSpPr>
          <p:cNvPr id="10" name="Text 7"/>
          <p:cNvSpPr txBox="1"/>
          <p:nvPr/>
        </p:nvSpPr>
        <p:spPr>
          <a:xfrm>
            <a:off x="640080" y="2194560"/>
            <a:ext cx="3657600" cy="1920240"/>
          </a:xfrm>
          <a:prstGeom prst="rect">
            <a:avLst/>
          </a:prstGeom>
          <a:noFill/>
          <a:ln/>
        </p:spPr>
        <p:txBody>
          <a:bodyPr wrap="square" lIns="0" tIns="0" rIns="0" bIns="0" rtlCol="0" anchor="t"/>
          <a:lstStyle/>
          <a:p>
            <a:pPr indent="0" marL="0">
              <a:spcAft>
                <a:spcPts val="800"/>
              </a:spcAft>
              <a:buNone/>
            </a:pPr>
            <a:r>
              <a:rPr lang="en-US" sz="1600" b="1" dirty="0">
                <a:solidFill>
                  <a:srgbClr val="1F2A37"/>
                </a:solidFill>
              </a:rPr>
              <a:t>Bukti: </a:t>
            </a:r>
            <a:pPr indent="0" marL="0">
              <a:spcAft>
                <a:spcPts val="800"/>
              </a:spcAft>
              <a:buNone/>
            </a:pPr>
            <a:r>
              <a:rPr lang="en-US" sz="1600" dirty="0">
                <a:solidFill>
                  <a:srgbClr val="1F2A37"/>
                </a:solidFill>
              </a:rPr>
              <a:t>GET / tanpa login mengembalikan HTTP 200 dan menampilkan omzet Rp306,9 juta.</a:t>
            </a:r>
            <a:endParaRPr lang="en-US" sz="1600" dirty="0"/>
          </a:p>
          <a:p>
            <a:pPr indent="0" marL="0">
              <a:spcAft>
                <a:spcPts val="800"/>
              </a:spcAft>
              <a:buNone/>
            </a:pPr>
            <a:r>
              <a:rPr lang="en-US" sz="1600" b="1" dirty="0">
                <a:solidFill>
                  <a:srgbClr val="1F2A37"/>
                </a:solidFill>
              </a:rPr>
              <a:t>Dampak: </a:t>
            </a:r>
            <a:pPr indent="0" marL="0">
              <a:spcAft>
                <a:spcPts val="800"/>
              </a:spcAft>
              <a:buNone/>
            </a:pPr>
            <a:r>
              <a:rPr lang="en-US" sz="1600" dirty="0">
                <a:solidFill>
                  <a:srgbClr val="1F2A37"/>
                </a:solidFill>
              </a:rPr>
              <a:t>Siapa pun dengan tautan dapat melihat data penjualan dan stok; pada data riil menjadi kebocoran informasi bisnis.</a:t>
            </a:r>
            <a:endParaRPr lang="en-US" sz="1600" dirty="0"/>
          </a:p>
        </p:txBody>
      </p:sp>
      <p:sp>
        <p:nvSpPr>
          <p:cNvPr id="11" name="Temuan 2"/>
          <p:cNvSpPr/>
          <p:nvPr/>
        </p:nvSpPr>
        <p:spPr>
          <a:xfrm>
            <a:off x="4663440" y="1097280"/>
            <a:ext cx="4023360" cy="31546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12" name="Nomor 2"/>
          <p:cNvSpPr/>
          <p:nvPr/>
        </p:nvSpPr>
        <p:spPr>
          <a:xfrm>
            <a:off x="4846320" y="1280160"/>
            <a:ext cx="384048" cy="384048"/>
          </a:xfrm>
          <a:prstGeom prst="ellipse">
            <a:avLst/>
          </a:prstGeom>
          <a:solidFill>
            <a:srgbClr val="D64933"/>
          </a:solidFill>
          <a:ln w="12700">
            <a:solidFill>
              <a:srgbClr val="D64933"/>
            </a:solidFill>
            <a:prstDash val="solid"/>
          </a:ln>
        </p:spPr>
      </p:sp>
      <p:sp>
        <p:nvSpPr>
          <p:cNvPr id="13" name="Text 10"/>
          <p:cNvSpPr txBox="1"/>
          <p:nvPr/>
        </p:nvSpPr>
        <p:spPr>
          <a:xfrm>
            <a:off x="4846320" y="1280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5349240" y="1234440"/>
            <a:ext cx="3154680" cy="502920"/>
          </a:xfrm>
          <a:prstGeom prst="rect">
            <a:avLst/>
          </a:prstGeom>
          <a:noFill/>
          <a:ln/>
        </p:spPr>
        <p:txBody>
          <a:bodyPr wrap="square" lIns="0" tIns="0" rIns="0" bIns="0" rtlCol="0" anchor="ctr"/>
          <a:lstStyle/>
          <a:p>
            <a:pPr indent="0" marL="0">
              <a:buNone/>
            </a:pPr>
            <a:r>
              <a:rPr lang="en-US" sz="1600" b="1" dirty="0">
                <a:solidFill>
                  <a:srgbClr val="1F2A37"/>
                </a:solidFill>
                <a:latin typeface="Cambria" pitchFamily="34" charset="0"/>
                <a:ea typeface="Cambria" pitchFamily="34" charset="-122"/>
                <a:cs typeface="Cambria" pitchFamily="34" charset="-120"/>
              </a:rPr>
              <a:t>Header keamanan HTTP belum ada</a:t>
            </a:r>
            <a:endParaRPr lang="en-US" sz="1600" dirty="0"/>
          </a:p>
        </p:txBody>
      </p:sp>
      <p:sp>
        <p:nvSpPr>
          <p:cNvPr id="15" name="Chip Sedang"/>
          <p:cNvSpPr/>
          <p:nvPr/>
        </p:nvSpPr>
        <p:spPr>
          <a:xfrm>
            <a:off x="4846320" y="1828800"/>
            <a:ext cx="914400" cy="274320"/>
          </a:xfrm>
          <a:prstGeom prst="roundRect">
            <a:avLst>
              <a:gd name="adj" fmla="val 40000"/>
            </a:avLst>
          </a:prstGeom>
          <a:solidFill>
            <a:srgbClr val="F2B134"/>
          </a:solidFill>
          <a:ln w="12700">
            <a:solidFill>
              <a:srgbClr val="F2B134"/>
            </a:solidFill>
            <a:prstDash val="solid"/>
          </a:ln>
        </p:spPr>
      </p:sp>
      <p:sp>
        <p:nvSpPr>
          <p:cNvPr id="16" name="Text 13"/>
          <p:cNvSpPr txBox="1"/>
          <p:nvPr/>
        </p:nvSpPr>
        <p:spPr>
          <a:xfrm>
            <a:off x="4846320" y="1828800"/>
            <a:ext cx="914400" cy="274320"/>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SEDANG</a:t>
            </a:r>
            <a:endParaRPr lang="en-US" sz="1100" dirty="0"/>
          </a:p>
        </p:txBody>
      </p:sp>
      <p:sp>
        <p:nvSpPr>
          <p:cNvPr id="17" name="Text 14"/>
          <p:cNvSpPr txBox="1"/>
          <p:nvPr/>
        </p:nvSpPr>
        <p:spPr>
          <a:xfrm>
            <a:off x="4846320" y="2194560"/>
            <a:ext cx="3657600" cy="1920240"/>
          </a:xfrm>
          <a:prstGeom prst="rect">
            <a:avLst/>
          </a:prstGeom>
          <a:noFill/>
          <a:ln/>
        </p:spPr>
        <p:txBody>
          <a:bodyPr wrap="square" lIns="0" tIns="0" rIns="0" bIns="0" rtlCol="0" anchor="t"/>
          <a:lstStyle/>
          <a:p>
            <a:pPr indent="0" marL="0">
              <a:spcAft>
                <a:spcPts val="800"/>
              </a:spcAft>
              <a:buNone/>
            </a:pPr>
            <a:r>
              <a:rPr lang="en-US" sz="1600" b="1" dirty="0">
                <a:solidFill>
                  <a:srgbClr val="1F2A37"/>
                </a:solidFill>
              </a:rPr>
              <a:t>Bukti: </a:t>
            </a:r>
            <a:pPr indent="0" marL="0">
              <a:spcAft>
                <a:spcPts val="800"/>
              </a:spcAft>
              <a:buNone/>
            </a:pPr>
            <a:r>
              <a:rPr lang="en-US" sz="1600" dirty="0">
                <a:solidFill>
                  <a:srgbClr val="1F2A37"/>
                </a:solidFill>
              </a:rPr>
              <a:t>0 dari 6 header yang diperiksa terpasang (CSP, X-Frame-Options, nosniff, HSTS, dan lainnya).</a:t>
            </a:r>
            <a:endParaRPr lang="en-US" sz="1600" dirty="0"/>
          </a:p>
          <a:p>
            <a:pPr indent="0" marL="0">
              <a:spcAft>
                <a:spcPts val="800"/>
              </a:spcAft>
              <a:buNone/>
            </a:pPr>
            <a:r>
              <a:rPr lang="en-US" sz="1600" b="1" dirty="0">
                <a:solidFill>
                  <a:srgbClr val="1F2A37"/>
                </a:solidFill>
              </a:rPr>
              <a:t>Dampak: </a:t>
            </a:r>
            <a:pPr indent="0" marL="0">
              <a:spcAft>
                <a:spcPts val="800"/>
              </a:spcAft>
              <a:buNone/>
            </a:pPr>
            <a:r>
              <a:rPr lang="en-US" sz="1600" dirty="0">
                <a:solidFill>
                  <a:srgbClr val="1F2A37"/>
                </a:solidFill>
              </a:rPr>
              <a:t>Halaman dapat disematkan di situs lain (clickjacking) dan tidak ada batasan sumber skrip.</a:t>
            </a:r>
            <a:endParaRPr lang="en-US" sz="1600" dirty="0"/>
          </a:p>
        </p:txBody>
      </p:sp>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F2A37"/>
                </a:solidFill>
                <a:latin typeface="Cambria" pitchFamily="34" charset="0"/>
                <a:ea typeface="Cambria" pitchFamily="34" charset="-122"/>
                <a:cs typeface="Cambria" pitchFamily="34" charset="-120"/>
              </a:rPr>
              <a:t>Temuan 3 dan 4: konfigurasi</a:t>
            </a:r>
            <a:endParaRPr lang="en-US" sz="3200" dirty="0"/>
          </a:p>
        </p:txBody>
      </p:sp>
      <p:sp>
        <p:nvSpPr>
          <p:cNvPr id="4" name="Temuan 3"/>
          <p:cNvSpPr/>
          <p:nvPr/>
        </p:nvSpPr>
        <p:spPr>
          <a:xfrm>
            <a:off x="457200" y="1097280"/>
            <a:ext cx="4023360" cy="31546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5" name="Nomor 3"/>
          <p:cNvSpPr/>
          <p:nvPr/>
        </p:nvSpPr>
        <p:spPr>
          <a:xfrm>
            <a:off x="640080" y="1280160"/>
            <a:ext cx="384048" cy="384048"/>
          </a:xfrm>
          <a:prstGeom prst="ellipse">
            <a:avLst/>
          </a:prstGeom>
          <a:solidFill>
            <a:srgbClr val="D64933"/>
          </a:solidFill>
          <a:ln w="12700">
            <a:solidFill>
              <a:srgbClr val="D64933"/>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7" name="Text 4"/>
          <p:cNvSpPr txBox="1"/>
          <p:nvPr/>
        </p:nvSpPr>
        <p:spPr>
          <a:xfrm>
            <a:off x="1143000" y="1234440"/>
            <a:ext cx="3154680" cy="502920"/>
          </a:xfrm>
          <a:prstGeom prst="rect">
            <a:avLst/>
          </a:prstGeom>
          <a:noFill/>
          <a:ln/>
        </p:spPr>
        <p:txBody>
          <a:bodyPr wrap="square" lIns="0" tIns="0" rIns="0" bIns="0" rtlCol="0" anchor="ctr"/>
          <a:lstStyle/>
          <a:p>
            <a:pPr indent="0" marL="0">
              <a:buNone/>
            </a:pPr>
            <a:r>
              <a:rPr lang="en-US" sz="1600" b="1" dirty="0">
                <a:solidFill>
                  <a:srgbClr val="1F2A37"/>
                </a:solidFill>
                <a:latin typeface="Cambria" pitchFamily="34" charset="0"/>
                <a:ea typeface="Cambria" pitchFamily="34" charset="-122"/>
                <a:cs typeface="Cambria" pitchFamily="34" charset="-120"/>
              </a:rPr>
              <a:t>Mode debug tertulis permanen</a:t>
            </a:r>
            <a:endParaRPr lang="en-US" sz="1600" dirty="0"/>
          </a:p>
        </p:txBody>
      </p:sp>
      <p:sp>
        <p:nvSpPr>
          <p:cNvPr id="8" name="Chip Sedang"/>
          <p:cNvSpPr/>
          <p:nvPr/>
        </p:nvSpPr>
        <p:spPr>
          <a:xfrm>
            <a:off x="640080" y="1828800"/>
            <a:ext cx="914400" cy="274320"/>
          </a:xfrm>
          <a:prstGeom prst="roundRect">
            <a:avLst>
              <a:gd name="adj" fmla="val 40000"/>
            </a:avLst>
          </a:prstGeom>
          <a:solidFill>
            <a:srgbClr val="F2B134"/>
          </a:solidFill>
          <a:ln w="12700">
            <a:solidFill>
              <a:srgbClr val="F2B134"/>
            </a:solidFill>
            <a:prstDash val="solid"/>
          </a:ln>
        </p:spPr>
      </p:sp>
      <p:sp>
        <p:nvSpPr>
          <p:cNvPr id="9" name="Text 6"/>
          <p:cNvSpPr txBox="1"/>
          <p:nvPr/>
        </p:nvSpPr>
        <p:spPr>
          <a:xfrm>
            <a:off x="640080" y="1828800"/>
            <a:ext cx="914400" cy="274320"/>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SEDANG</a:t>
            </a:r>
            <a:endParaRPr lang="en-US" sz="1100" dirty="0"/>
          </a:p>
        </p:txBody>
      </p:sp>
      <p:sp>
        <p:nvSpPr>
          <p:cNvPr id="10" name="Text 7"/>
          <p:cNvSpPr txBox="1"/>
          <p:nvPr/>
        </p:nvSpPr>
        <p:spPr>
          <a:xfrm>
            <a:off x="640080" y="2194560"/>
            <a:ext cx="3657600" cy="1920240"/>
          </a:xfrm>
          <a:prstGeom prst="rect">
            <a:avLst/>
          </a:prstGeom>
          <a:noFill/>
          <a:ln/>
        </p:spPr>
        <p:txBody>
          <a:bodyPr wrap="square" lIns="0" tIns="0" rIns="0" bIns="0" rtlCol="0" anchor="t"/>
          <a:lstStyle/>
          <a:p>
            <a:pPr indent="0" marL="0">
              <a:spcAft>
                <a:spcPts val="800"/>
              </a:spcAft>
              <a:buNone/>
            </a:pPr>
            <a:r>
              <a:rPr lang="en-US" sz="1600" b="1" dirty="0">
                <a:solidFill>
                  <a:srgbClr val="1F2A37"/>
                </a:solidFill>
              </a:rPr>
              <a:t>Bukti: </a:t>
            </a:r>
            <a:pPr indent="0" marL="0">
              <a:spcAft>
                <a:spcPts val="800"/>
              </a:spcAft>
              <a:buNone/>
            </a:pPr>
            <a:r>
              <a:rPr lang="en-US" sz="1600" dirty="0">
                <a:solidFill>
                  <a:srgbClr val="1F2A37"/>
                </a:solidFill>
              </a:rPr>
              <a:t>app.run(debug=True) pada app.py; pada mode hosting WSGI diuji app.debug = False.</a:t>
            </a:r>
            <a:endParaRPr lang="en-US" sz="1600" dirty="0"/>
          </a:p>
          <a:p>
            <a:pPr indent="0" marL="0">
              <a:spcAft>
                <a:spcPts val="800"/>
              </a:spcAft>
              <a:buNone/>
            </a:pPr>
            <a:r>
              <a:rPr lang="en-US" sz="1600" b="1" dirty="0">
                <a:solidFill>
                  <a:srgbClr val="1F2A37"/>
                </a:solidFill>
              </a:rPr>
              <a:t>Dampak: </a:t>
            </a:r>
            <a:pPr indent="0" marL="0">
              <a:spcAft>
                <a:spcPts val="800"/>
              </a:spcAft>
              <a:buNone/>
            </a:pPr>
            <a:r>
              <a:rPr lang="en-US" sz="1600" dirty="0">
                <a:solidFill>
                  <a:srgbClr val="1F2A37"/>
                </a:solidFill>
              </a:rPr>
              <a:t>Bila dijalankan langsung dan terjangkau jaringan, debugger dapat mengeksekusi kode dari browser. Risiko laten.</a:t>
            </a:r>
            <a:endParaRPr lang="en-US" sz="1600" dirty="0"/>
          </a:p>
        </p:txBody>
      </p:sp>
      <p:sp>
        <p:nvSpPr>
          <p:cNvPr id="11" name="Temuan 4"/>
          <p:cNvSpPr/>
          <p:nvPr/>
        </p:nvSpPr>
        <p:spPr>
          <a:xfrm>
            <a:off x="4663440" y="1097280"/>
            <a:ext cx="4023360" cy="31546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12" name="Nomor 4"/>
          <p:cNvSpPr/>
          <p:nvPr/>
        </p:nvSpPr>
        <p:spPr>
          <a:xfrm>
            <a:off x="4846320" y="1280160"/>
            <a:ext cx="384048" cy="384048"/>
          </a:xfrm>
          <a:prstGeom prst="ellipse">
            <a:avLst/>
          </a:prstGeom>
          <a:solidFill>
            <a:srgbClr val="D64933"/>
          </a:solidFill>
          <a:ln w="12700">
            <a:solidFill>
              <a:srgbClr val="D64933"/>
            </a:solidFill>
            <a:prstDash val="solid"/>
          </a:ln>
        </p:spPr>
      </p:sp>
      <p:sp>
        <p:nvSpPr>
          <p:cNvPr id="13" name="Text 10"/>
          <p:cNvSpPr txBox="1"/>
          <p:nvPr/>
        </p:nvSpPr>
        <p:spPr>
          <a:xfrm>
            <a:off x="4846320" y="1280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Text 11"/>
          <p:cNvSpPr txBox="1"/>
          <p:nvPr/>
        </p:nvSpPr>
        <p:spPr>
          <a:xfrm>
            <a:off x="5349240" y="1234440"/>
            <a:ext cx="3154680" cy="502920"/>
          </a:xfrm>
          <a:prstGeom prst="rect">
            <a:avLst/>
          </a:prstGeom>
          <a:noFill/>
          <a:ln/>
        </p:spPr>
        <p:txBody>
          <a:bodyPr wrap="square" lIns="0" tIns="0" rIns="0" bIns="0" rtlCol="0" anchor="ctr"/>
          <a:lstStyle/>
          <a:p>
            <a:pPr indent="0" marL="0">
              <a:buNone/>
            </a:pPr>
            <a:r>
              <a:rPr lang="en-US" sz="1600" b="1" dirty="0">
                <a:solidFill>
                  <a:srgbClr val="1F2A37"/>
                </a:solidFill>
                <a:latin typeface="Cambria" pitchFamily="34" charset="0"/>
                <a:ea typeface="Cambria" pitchFamily="34" charset="-122"/>
                <a:cs typeface="Cambria" pitchFamily="34" charset="-120"/>
              </a:rPr>
              <a:t>Kredensial database bawaan lemah</a:t>
            </a:r>
            <a:endParaRPr lang="en-US" sz="1600" dirty="0"/>
          </a:p>
        </p:txBody>
      </p:sp>
      <p:sp>
        <p:nvSpPr>
          <p:cNvPr id="15" name="Chip Sedang"/>
          <p:cNvSpPr/>
          <p:nvPr/>
        </p:nvSpPr>
        <p:spPr>
          <a:xfrm>
            <a:off x="4846320" y="1828800"/>
            <a:ext cx="914400" cy="274320"/>
          </a:xfrm>
          <a:prstGeom prst="roundRect">
            <a:avLst>
              <a:gd name="adj" fmla="val 40000"/>
            </a:avLst>
          </a:prstGeom>
          <a:solidFill>
            <a:srgbClr val="F2B134"/>
          </a:solidFill>
          <a:ln w="12700">
            <a:solidFill>
              <a:srgbClr val="F2B134"/>
            </a:solidFill>
            <a:prstDash val="solid"/>
          </a:ln>
        </p:spPr>
      </p:sp>
      <p:sp>
        <p:nvSpPr>
          <p:cNvPr id="16" name="Text 13"/>
          <p:cNvSpPr txBox="1"/>
          <p:nvPr/>
        </p:nvSpPr>
        <p:spPr>
          <a:xfrm>
            <a:off x="4846320" y="1828800"/>
            <a:ext cx="914400" cy="274320"/>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SEDANG</a:t>
            </a:r>
            <a:endParaRPr lang="en-US" sz="1100" dirty="0"/>
          </a:p>
        </p:txBody>
      </p:sp>
      <p:sp>
        <p:nvSpPr>
          <p:cNvPr id="17" name="Text 14"/>
          <p:cNvSpPr txBox="1"/>
          <p:nvPr/>
        </p:nvSpPr>
        <p:spPr>
          <a:xfrm>
            <a:off x="4846320" y="2194560"/>
            <a:ext cx="3657600" cy="1920240"/>
          </a:xfrm>
          <a:prstGeom prst="rect">
            <a:avLst/>
          </a:prstGeom>
          <a:noFill/>
          <a:ln/>
        </p:spPr>
        <p:txBody>
          <a:bodyPr wrap="square" lIns="0" tIns="0" rIns="0" bIns="0" rtlCol="0" anchor="t"/>
          <a:lstStyle/>
          <a:p>
            <a:pPr indent="0" marL="0">
              <a:spcAft>
                <a:spcPts val="800"/>
              </a:spcAft>
              <a:buNone/>
            </a:pPr>
            <a:r>
              <a:rPr lang="en-US" sz="1600" b="1" dirty="0">
                <a:solidFill>
                  <a:srgbClr val="1F2A37"/>
                </a:solidFill>
              </a:rPr>
              <a:t>Bukti: </a:t>
            </a:r>
            <a:pPr indent="0" marL="0">
              <a:spcAft>
                <a:spcPts val="800"/>
              </a:spcAft>
              <a:buNone/>
            </a:pPr>
            <a:r>
              <a:rPr lang="en-US" sz="1600" dirty="0">
                <a:solidFill>
                  <a:srgbClr val="1F2A37"/>
                </a:solidFill>
              </a:rPr>
              <a:t>config.py memakai pengguna root dengan kata sandi kosong sebagai nilai bawaan.</a:t>
            </a:r>
            <a:endParaRPr lang="en-US" sz="1600" dirty="0"/>
          </a:p>
          <a:p>
            <a:pPr indent="0" marL="0">
              <a:spcAft>
                <a:spcPts val="800"/>
              </a:spcAft>
              <a:buNone/>
            </a:pPr>
            <a:r>
              <a:rPr lang="en-US" sz="1600" b="1" dirty="0">
                <a:solidFill>
                  <a:srgbClr val="1F2A37"/>
                </a:solidFill>
              </a:rPr>
              <a:t>Dampak: </a:t>
            </a:r>
            <a:pPr indent="0" marL="0">
              <a:spcAft>
                <a:spcPts val="800"/>
              </a:spcAft>
              <a:buNone/>
            </a:pPr>
            <a:r>
              <a:rPr lang="en-US" sz="1600" dirty="0">
                <a:solidFill>
                  <a:srgbClr val="1F2A37"/>
                </a:solidFill>
              </a:rPr>
              <a:t>Jika MySQL terjangkau jaringan, seluruh database dapat diakses tanpa kata sandi.</a:t>
            </a:r>
            <a:endParaRPr lang="en-US" sz="1600" dirty="0"/>
          </a:p>
        </p:txBody>
      </p:sp>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F2A37"/>
                </a:solidFill>
                <a:latin typeface="Cambria" pitchFamily="34" charset="0"/>
                <a:ea typeface="Cambria" pitchFamily="34" charset="-122"/>
                <a:cs typeface="Cambria" pitchFamily="34" charset="-120"/>
              </a:rPr>
              <a:t>Temuan 5 dan 6: rantai pasok dan beban</a:t>
            </a:r>
            <a:endParaRPr lang="en-US" sz="3200" dirty="0"/>
          </a:p>
        </p:txBody>
      </p:sp>
      <p:sp>
        <p:nvSpPr>
          <p:cNvPr id="4" name="Temuan 5"/>
          <p:cNvSpPr/>
          <p:nvPr/>
        </p:nvSpPr>
        <p:spPr>
          <a:xfrm>
            <a:off x="457200" y="1097280"/>
            <a:ext cx="4023360" cy="31546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5" name="Nomor 5"/>
          <p:cNvSpPr/>
          <p:nvPr/>
        </p:nvSpPr>
        <p:spPr>
          <a:xfrm>
            <a:off x="640080" y="1280160"/>
            <a:ext cx="384048" cy="384048"/>
          </a:xfrm>
          <a:prstGeom prst="ellipse">
            <a:avLst/>
          </a:prstGeom>
          <a:solidFill>
            <a:srgbClr val="0E7C73"/>
          </a:solidFill>
          <a:ln w="12700">
            <a:solidFill>
              <a:srgbClr val="0E7C73"/>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7" name="Text 4"/>
          <p:cNvSpPr txBox="1"/>
          <p:nvPr/>
        </p:nvSpPr>
        <p:spPr>
          <a:xfrm>
            <a:off x="1143000" y="1234440"/>
            <a:ext cx="3154680" cy="502920"/>
          </a:xfrm>
          <a:prstGeom prst="rect">
            <a:avLst/>
          </a:prstGeom>
          <a:noFill/>
          <a:ln/>
        </p:spPr>
        <p:txBody>
          <a:bodyPr wrap="square" lIns="0" tIns="0" rIns="0" bIns="0" rtlCol="0" anchor="ctr"/>
          <a:lstStyle/>
          <a:p>
            <a:pPr indent="0" marL="0">
              <a:buNone/>
            </a:pPr>
            <a:r>
              <a:rPr lang="en-US" sz="1600" b="1" dirty="0">
                <a:solidFill>
                  <a:srgbClr val="1F2A37"/>
                </a:solidFill>
                <a:latin typeface="Cambria" pitchFamily="34" charset="0"/>
                <a:ea typeface="Cambria" pitchFamily="34" charset="-122"/>
                <a:cs typeface="Cambria" pitchFamily="34" charset="-120"/>
              </a:rPr>
              <a:t>Skrip CDN tanpa SRI</a:t>
            </a:r>
            <a:endParaRPr lang="en-US" sz="1600" dirty="0"/>
          </a:p>
        </p:txBody>
      </p:sp>
      <p:sp>
        <p:nvSpPr>
          <p:cNvPr id="8" name="Chip Rendah"/>
          <p:cNvSpPr/>
          <p:nvPr/>
        </p:nvSpPr>
        <p:spPr>
          <a:xfrm>
            <a:off x="640080" y="1828800"/>
            <a:ext cx="914400" cy="274320"/>
          </a:xfrm>
          <a:prstGeom prst="roundRect">
            <a:avLst>
              <a:gd name="adj" fmla="val 40000"/>
            </a:avLst>
          </a:prstGeom>
          <a:solidFill>
            <a:srgbClr val="0E7C73"/>
          </a:solidFill>
          <a:ln w="12700">
            <a:solidFill>
              <a:srgbClr val="0E7C73"/>
            </a:solidFill>
            <a:prstDash val="solid"/>
          </a:ln>
        </p:spPr>
      </p:sp>
      <p:sp>
        <p:nvSpPr>
          <p:cNvPr id="9" name="Text 6"/>
          <p:cNvSpPr txBox="1"/>
          <p:nvPr/>
        </p:nvSpPr>
        <p:spPr>
          <a:xfrm>
            <a:off x="640080" y="1828800"/>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RENDAH</a:t>
            </a:r>
            <a:endParaRPr lang="en-US" sz="1100" dirty="0"/>
          </a:p>
        </p:txBody>
      </p:sp>
      <p:sp>
        <p:nvSpPr>
          <p:cNvPr id="10" name="Text 7"/>
          <p:cNvSpPr txBox="1"/>
          <p:nvPr/>
        </p:nvSpPr>
        <p:spPr>
          <a:xfrm>
            <a:off x="640080" y="2194560"/>
            <a:ext cx="3657600" cy="1920240"/>
          </a:xfrm>
          <a:prstGeom prst="rect">
            <a:avLst/>
          </a:prstGeom>
          <a:noFill/>
          <a:ln/>
        </p:spPr>
        <p:txBody>
          <a:bodyPr wrap="square" lIns="0" tIns="0" rIns="0" bIns="0" rtlCol="0" anchor="t"/>
          <a:lstStyle/>
          <a:p>
            <a:pPr indent="0" marL="0">
              <a:spcAft>
                <a:spcPts val="800"/>
              </a:spcAft>
              <a:buNone/>
            </a:pPr>
            <a:r>
              <a:rPr lang="en-US" sz="1600" b="1" dirty="0">
                <a:solidFill>
                  <a:srgbClr val="1F2A37"/>
                </a:solidFill>
              </a:rPr>
              <a:t>Bukti: </a:t>
            </a:r>
            <a:pPr indent="0" marL="0">
              <a:spcAft>
                <a:spcPts val="800"/>
              </a:spcAft>
              <a:buNone/>
            </a:pPr>
            <a:r>
              <a:rPr lang="en-US" sz="1600" dirty="0">
                <a:solidFill>
                  <a:srgbClr val="1F2A37"/>
                </a:solidFill>
              </a:rPr>
              <a:t>Bootstrap dan Plotly dimuat dari CDN tanpa atribut integrity.</a:t>
            </a:r>
            <a:endParaRPr lang="en-US" sz="1600" dirty="0"/>
          </a:p>
          <a:p>
            <a:pPr indent="0" marL="0">
              <a:spcAft>
                <a:spcPts val="800"/>
              </a:spcAft>
              <a:buNone/>
            </a:pPr>
            <a:r>
              <a:rPr lang="en-US" sz="1600" b="1" dirty="0">
                <a:solidFill>
                  <a:srgbClr val="1F2A37"/>
                </a:solidFill>
              </a:rPr>
              <a:t>Dampak: </a:t>
            </a:r>
            <a:pPr indent="0" marL="0">
              <a:spcAft>
                <a:spcPts val="800"/>
              </a:spcAft>
              <a:buNone/>
            </a:pPr>
            <a:r>
              <a:rPr lang="en-US" sz="1600" dirty="0">
                <a:solidFill>
                  <a:srgbClr val="1F2A37"/>
                </a:solidFill>
              </a:rPr>
              <a:t>Jika CDN dikompromikan, skrip berbahaya berjalan di halaman dashboard (risiko rantai pasok).</a:t>
            </a:r>
            <a:endParaRPr lang="en-US" sz="1600" dirty="0"/>
          </a:p>
        </p:txBody>
      </p:sp>
      <p:sp>
        <p:nvSpPr>
          <p:cNvPr id="11" name="Temuan 6"/>
          <p:cNvSpPr/>
          <p:nvPr/>
        </p:nvSpPr>
        <p:spPr>
          <a:xfrm>
            <a:off x="4663440" y="1097280"/>
            <a:ext cx="4023360" cy="31546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12" name="Nomor 6"/>
          <p:cNvSpPr/>
          <p:nvPr/>
        </p:nvSpPr>
        <p:spPr>
          <a:xfrm>
            <a:off x="4846320" y="1280160"/>
            <a:ext cx="384048" cy="384048"/>
          </a:xfrm>
          <a:prstGeom prst="ellipse">
            <a:avLst/>
          </a:prstGeom>
          <a:solidFill>
            <a:srgbClr val="0E7C73"/>
          </a:solidFill>
          <a:ln w="12700">
            <a:solidFill>
              <a:srgbClr val="0E7C73"/>
            </a:solidFill>
            <a:prstDash val="solid"/>
          </a:ln>
        </p:spPr>
      </p:sp>
      <p:sp>
        <p:nvSpPr>
          <p:cNvPr id="13" name="Text 10"/>
          <p:cNvSpPr txBox="1"/>
          <p:nvPr/>
        </p:nvSpPr>
        <p:spPr>
          <a:xfrm>
            <a:off x="4846320" y="1280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4" name="Text 11"/>
          <p:cNvSpPr txBox="1"/>
          <p:nvPr/>
        </p:nvSpPr>
        <p:spPr>
          <a:xfrm>
            <a:off x="5349240" y="1234440"/>
            <a:ext cx="3154680" cy="502920"/>
          </a:xfrm>
          <a:prstGeom prst="rect">
            <a:avLst/>
          </a:prstGeom>
          <a:noFill/>
          <a:ln/>
        </p:spPr>
        <p:txBody>
          <a:bodyPr wrap="square" lIns="0" tIns="0" rIns="0" bIns="0" rtlCol="0" anchor="ctr"/>
          <a:lstStyle/>
          <a:p>
            <a:pPr indent="0" marL="0">
              <a:buNone/>
            </a:pPr>
            <a:r>
              <a:rPr lang="en-US" sz="1600" b="1" dirty="0">
                <a:solidFill>
                  <a:srgbClr val="1F2A37"/>
                </a:solidFill>
                <a:latin typeface="Cambria" pitchFamily="34" charset="0"/>
                <a:ea typeface="Cambria" pitchFamily="34" charset="-122"/>
                <a:cs typeface="Cambria" pitchFamily="34" charset="-120"/>
              </a:rPr>
              <a:t>Tanpa pembatasan laju</a:t>
            </a:r>
            <a:endParaRPr lang="en-US" sz="1600" dirty="0"/>
          </a:p>
        </p:txBody>
      </p:sp>
      <p:sp>
        <p:nvSpPr>
          <p:cNvPr id="15" name="Chip Rendah"/>
          <p:cNvSpPr/>
          <p:nvPr/>
        </p:nvSpPr>
        <p:spPr>
          <a:xfrm>
            <a:off x="4846320" y="1828800"/>
            <a:ext cx="914400" cy="274320"/>
          </a:xfrm>
          <a:prstGeom prst="roundRect">
            <a:avLst>
              <a:gd name="adj" fmla="val 40000"/>
            </a:avLst>
          </a:prstGeom>
          <a:solidFill>
            <a:srgbClr val="0E7C73"/>
          </a:solidFill>
          <a:ln w="12700">
            <a:solidFill>
              <a:srgbClr val="0E7C73"/>
            </a:solidFill>
            <a:prstDash val="solid"/>
          </a:ln>
        </p:spPr>
      </p:sp>
      <p:sp>
        <p:nvSpPr>
          <p:cNvPr id="16" name="Text 13"/>
          <p:cNvSpPr txBox="1"/>
          <p:nvPr/>
        </p:nvSpPr>
        <p:spPr>
          <a:xfrm>
            <a:off x="4846320" y="1828800"/>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RENDAH</a:t>
            </a:r>
            <a:endParaRPr lang="en-US" sz="1100" dirty="0"/>
          </a:p>
        </p:txBody>
      </p:sp>
      <p:sp>
        <p:nvSpPr>
          <p:cNvPr id="17" name="Text 14"/>
          <p:cNvSpPr txBox="1"/>
          <p:nvPr/>
        </p:nvSpPr>
        <p:spPr>
          <a:xfrm>
            <a:off x="4846320" y="2194560"/>
            <a:ext cx="3657600" cy="1920240"/>
          </a:xfrm>
          <a:prstGeom prst="rect">
            <a:avLst/>
          </a:prstGeom>
          <a:noFill/>
          <a:ln/>
        </p:spPr>
        <p:txBody>
          <a:bodyPr wrap="square" lIns="0" tIns="0" rIns="0" bIns="0" rtlCol="0" anchor="t"/>
          <a:lstStyle/>
          <a:p>
            <a:pPr indent="0" marL="0">
              <a:spcAft>
                <a:spcPts val="800"/>
              </a:spcAft>
              <a:buNone/>
            </a:pPr>
            <a:r>
              <a:rPr lang="en-US" sz="1600" b="1" dirty="0">
                <a:solidFill>
                  <a:srgbClr val="1F2A37"/>
                </a:solidFill>
              </a:rPr>
              <a:t>Bukti: </a:t>
            </a:r>
            <a:pPr indent="0" marL="0">
              <a:spcAft>
                <a:spcPts val="800"/>
              </a:spcAft>
              <a:buNone/>
            </a:pPr>
            <a:r>
              <a:rPr lang="en-US" sz="1600" dirty="0">
                <a:solidFill>
                  <a:srgbClr val="1F2A37"/>
                </a:solidFill>
              </a:rPr>
              <a:t>Satu permintaan memakan sekitar 160 sampai 190 ms dan menghasilkan respons 66 KB.</a:t>
            </a:r>
            <a:endParaRPr lang="en-US" sz="1600" dirty="0"/>
          </a:p>
          <a:p>
            <a:pPr indent="0" marL="0">
              <a:spcAft>
                <a:spcPts val="800"/>
              </a:spcAft>
              <a:buNone/>
            </a:pPr>
            <a:r>
              <a:rPr lang="en-US" sz="1600" b="1" dirty="0">
                <a:solidFill>
                  <a:srgbClr val="1F2A37"/>
                </a:solidFill>
              </a:rPr>
              <a:t>Dampak: </a:t>
            </a:r>
            <a:pPr indent="0" marL="0">
              <a:spcAft>
                <a:spcPts val="800"/>
              </a:spcAft>
              <a:buNone/>
            </a:pPr>
            <a:r>
              <a:rPr lang="en-US" sz="1600" dirty="0">
                <a:solidFill>
                  <a:srgbClr val="1F2A37"/>
                </a:solidFill>
              </a:rPr>
              <a:t>Permintaan berulang dapat membebani server gratis hingga lambat atau tidak tersedia.</a:t>
            </a:r>
            <a:endParaRPr lang="en-US" sz="1600" dirty="0"/>
          </a:p>
        </p:txBody>
      </p:sp>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F2A37"/>
                </a:solidFill>
                <a:latin typeface="Cambria" pitchFamily="34" charset="0"/>
                <a:ea typeface="Cambria" pitchFamily="34" charset="-122"/>
                <a:cs typeface="Cambria" pitchFamily="34" charset="-120"/>
              </a:rPr>
              <a:t>Temuan 7 dan 8: data dan dependensi</a:t>
            </a:r>
            <a:endParaRPr lang="en-US" sz="3200" dirty="0"/>
          </a:p>
        </p:txBody>
      </p:sp>
      <p:sp>
        <p:nvSpPr>
          <p:cNvPr id="4" name="Temuan 7"/>
          <p:cNvSpPr/>
          <p:nvPr/>
        </p:nvSpPr>
        <p:spPr>
          <a:xfrm>
            <a:off x="457200" y="1097280"/>
            <a:ext cx="4023360" cy="31546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5" name="Nomor 7"/>
          <p:cNvSpPr/>
          <p:nvPr/>
        </p:nvSpPr>
        <p:spPr>
          <a:xfrm>
            <a:off x="640080" y="1280160"/>
            <a:ext cx="384048" cy="384048"/>
          </a:xfrm>
          <a:prstGeom prst="ellipse">
            <a:avLst/>
          </a:prstGeom>
          <a:solidFill>
            <a:srgbClr val="0E7C73"/>
          </a:solidFill>
          <a:ln w="12700">
            <a:solidFill>
              <a:srgbClr val="0E7C73"/>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7" name="Text 4"/>
          <p:cNvSpPr txBox="1"/>
          <p:nvPr/>
        </p:nvSpPr>
        <p:spPr>
          <a:xfrm>
            <a:off x="1143000" y="1234440"/>
            <a:ext cx="3154680" cy="502920"/>
          </a:xfrm>
          <a:prstGeom prst="rect">
            <a:avLst/>
          </a:prstGeom>
          <a:noFill/>
          <a:ln/>
        </p:spPr>
        <p:txBody>
          <a:bodyPr wrap="square" lIns="0" tIns="0" rIns="0" bIns="0" rtlCol="0" anchor="ctr"/>
          <a:lstStyle/>
          <a:p>
            <a:pPr indent="0" marL="0">
              <a:buNone/>
            </a:pPr>
            <a:r>
              <a:rPr lang="en-US" sz="1600" b="1" dirty="0">
                <a:solidFill>
                  <a:srgbClr val="1F2A37"/>
                </a:solidFill>
                <a:latin typeface="Cambria" pitchFamily="34" charset="0"/>
                <a:ea typeface="Cambria" pitchFamily="34" charset="-122"/>
                <a:cs typeface="Cambria" pitchFamily="34" charset="-120"/>
              </a:rPr>
              <a:t>Data demo di repositori publik</a:t>
            </a:r>
            <a:endParaRPr lang="en-US" sz="1600" dirty="0"/>
          </a:p>
        </p:txBody>
      </p:sp>
      <p:sp>
        <p:nvSpPr>
          <p:cNvPr id="8" name="Chip Rendah"/>
          <p:cNvSpPr/>
          <p:nvPr/>
        </p:nvSpPr>
        <p:spPr>
          <a:xfrm>
            <a:off x="640080" y="1828800"/>
            <a:ext cx="914400" cy="274320"/>
          </a:xfrm>
          <a:prstGeom prst="roundRect">
            <a:avLst>
              <a:gd name="adj" fmla="val 40000"/>
            </a:avLst>
          </a:prstGeom>
          <a:solidFill>
            <a:srgbClr val="0E7C73"/>
          </a:solidFill>
          <a:ln w="12700">
            <a:solidFill>
              <a:srgbClr val="0E7C73"/>
            </a:solidFill>
            <a:prstDash val="solid"/>
          </a:ln>
        </p:spPr>
      </p:sp>
      <p:sp>
        <p:nvSpPr>
          <p:cNvPr id="9" name="Text 6"/>
          <p:cNvSpPr txBox="1"/>
          <p:nvPr/>
        </p:nvSpPr>
        <p:spPr>
          <a:xfrm>
            <a:off x="640080" y="1828800"/>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RENDAH</a:t>
            </a:r>
            <a:endParaRPr lang="en-US" sz="1100" dirty="0"/>
          </a:p>
        </p:txBody>
      </p:sp>
      <p:sp>
        <p:nvSpPr>
          <p:cNvPr id="10" name="Text 7"/>
          <p:cNvSpPr txBox="1"/>
          <p:nvPr/>
        </p:nvSpPr>
        <p:spPr>
          <a:xfrm>
            <a:off x="640080" y="2194560"/>
            <a:ext cx="3657600" cy="1920240"/>
          </a:xfrm>
          <a:prstGeom prst="rect">
            <a:avLst/>
          </a:prstGeom>
          <a:noFill/>
          <a:ln/>
        </p:spPr>
        <p:txBody>
          <a:bodyPr wrap="square" lIns="0" tIns="0" rIns="0" bIns="0" rtlCol="0" anchor="t"/>
          <a:lstStyle/>
          <a:p>
            <a:pPr indent="0" marL="0">
              <a:spcAft>
                <a:spcPts val="800"/>
              </a:spcAft>
              <a:buNone/>
            </a:pPr>
            <a:r>
              <a:rPr lang="en-US" sz="1600" b="1" dirty="0">
                <a:solidFill>
                  <a:srgbClr val="1F2A37"/>
                </a:solidFill>
              </a:rPr>
              <a:t>Bukti: </a:t>
            </a:r>
            <a:pPr indent="0" marL="0">
              <a:spcAft>
                <a:spcPts val="800"/>
              </a:spcAft>
              <a:buNone/>
            </a:pPr>
            <a:r>
              <a:rPr lang="en-US" sz="1600" dirty="0">
                <a:solidFill>
                  <a:srgbClr val="1F2A37"/>
                </a:solidFill>
              </a:rPr>
              <a:t>Berkas .db dan CSV tersimpan di GitHub publik; datanya acak dari skrip generate.py.</a:t>
            </a:r>
            <a:endParaRPr lang="en-US" sz="1600" dirty="0"/>
          </a:p>
          <a:p>
            <a:pPr indent="0" marL="0">
              <a:spcAft>
                <a:spcPts val="800"/>
              </a:spcAft>
              <a:buNone/>
            </a:pPr>
            <a:r>
              <a:rPr lang="en-US" sz="1600" b="1" dirty="0">
                <a:solidFill>
                  <a:srgbClr val="1F2A37"/>
                </a:solidFill>
              </a:rPr>
              <a:t>Dampak: </a:t>
            </a:r>
            <a:pPr indent="0" marL="0">
              <a:spcAft>
                <a:spcPts val="800"/>
              </a:spcAft>
              <a:buNone/>
            </a:pPr>
            <a:r>
              <a:rPr lang="en-US" sz="1600" dirty="0">
                <a:solidFill>
                  <a:srgbClr val="1F2A37"/>
                </a:solidFill>
              </a:rPr>
              <a:t>Bukan data pelanggan nyata, tetapi pola ini melanggar perlindungan data pribadi jika memakai data riil.</a:t>
            </a:r>
            <a:endParaRPr lang="en-US" sz="1600" dirty="0"/>
          </a:p>
        </p:txBody>
      </p:sp>
      <p:sp>
        <p:nvSpPr>
          <p:cNvPr id="11" name="Temuan 8"/>
          <p:cNvSpPr/>
          <p:nvPr/>
        </p:nvSpPr>
        <p:spPr>
          <a:xfrm>
            <a:off x="4663440" y="1097280"/>
            <a:ext cx="4023360" cy="31546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12" name="Nomor 8"/>
          <p:cNvSpPr/>
          <p:nvPr/>
        </p:nvSpPr>
        <p:spPr>
          <a:xfrm>
            <a:off x="4846320" y="1280160"/>
            <a:ext cx="384048" cy="384048"/>
          </a:xfrm>
          <a:prstGeom prst="ellipse">
            <a:avLst/>
          </a:prstGeom>
          <a:solidFill>
            <a:srgbClr val="0E7C73"/>
          </a:solidFill>
          <a:ln w="12700">
            <a:solidFill>
              <a:srgbClr val="0E7C73"/>
            </a:solidFill>
            <a:prstDash val="solid"/>
          </a:ln>
        </p:spPr>
      </p:sp>
      <p:sp>
        <p:nvSpPr>
          <p:cNvPr id="13" name="Text 10"/>
          <p:cNvSpPr txBox="1"/>
          <p:nvPr/>
        </p:nvSpPr>
        <p:spPr>
          <a:xfrm>
            <a:off x="4846320" y="1280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14" name="Text 11"/>
          <p:cNvSpPr txBox="1"/>
          <p:nvPr/>
        </p:nvSpPr>
        <p:spPr>
          <a:xfrm>
            <a:off x="5349240" y="1234440"/>
            <a:ext cx="3154680" cy="502920"/>
          </a:xfrm>
          <a:prstGeom prst="rect">
            <a:avLst/>
          </a:prstGeom>
          <a:noFill/>
          <a:ln/>
        </p:spPr>
        <p:txBody>
          <a:bodyPr wrap="square" lIns="0" tIns="0" rIns="0" bIns="0" rtlCol="0" anchor="ctr"/>
          <a:lstStyle/>
          <a:p>
            <a:pPr indent="0" marL="0">
              <a:buNone/>
            </a:pPr>
            <a:r>
              <a:rPr lang="en-US" sz="1600" b="1" dirty="0">
                <a:solidFill>
                  <a:srgbClr val="1F2A37"/>
                </a:solidFill>
                <a:latin typeface="Cambria" pitchFamily="34" charset="0"/>
                <a:ea typeface="Cambria" pitchFamily="34" charset="-122"/>
                <a:cs typeface="Cambria" pitchFamily="34" charset="-120"/>
              </a:rPr>
              <a:t>Dependensi belum diaudit</a:t>
            </a:r>
            <a:endParaRPr lang="en-US" sz="1600" dirty="0"/>
          </a:p>
        </p:txBody>
      </p:sp>
      <p:sp>
        <p:nvSpPr>
          <p:cNvPr id="15" name="Chip Rendah"/>
          <p:cNvSpPr/>
          <p:nvPr/>
        </p:nvSpPr>
        <p:spPr>
          <a:xfrm>
            <a:off x="4846320" y="1828800"/>
            <a:ext cx="914400" cy="274320"/>
          </a:xfrm>
          <a:prstGeom prst="roundRect">
            <a:avLst>
              <a:gd name="adj" fmla="val 40000"/>
            </a:avLst>
          </a:prstGeom>
          <a:solidFill>
            <a:srgbClr val="0E7C73"/>
          </a:solidFill>
          <a:ln w="12700">
            <a:solidFill>
              <a:srgbClr val="0E7C73"/>
            </a:solidFill>
            <a:prstDash val="solid"/>
          </a:ln>
        </p:spPr>
      </p:sp>
      <p:sp>
        <p:nvSpPr>
          <p:cNvPr id="16" name="Text 13"/>
          <p:cNvSpPr txBox="1"/>
          <p:nvPr/>
        </p:nvSpPr>
        <p:spPr>
          <a:xfrm>
            <a:off x="4846320" y="1828800"/>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RENDAH</a:t>
            </a:r>
            <a:endParaRPr lang="en-US" sz="1100" dirty="0"/>
          </a:p>
        </p:txBody>
      </p:sp>
      <p:sp>
        <p:nvSpPr>
          <p:cNvPr id="17" name="Text 14"/>
          <p:cNvSpPr txBox="1"/>
          <p:nvPr/>
        </p:nvSpPr>
        <p:spPr>
          <a:xfrm>
            <a:off x="4846320" y="2194560"/>
            <a:ext cx="3657600" cy="1920240"/>
          </a:xfrm>
          <a:prstGeom prst="rect">
            <a:avLst/>
          </a:prstGeom>
          <a:noFill/>
          <a:ln/>
        </p:spPr>
        <p:txBody>
          <a:bodyPr wrap="square" lIns="0" tIns="0" rIns="0" bIns="0" rtlCol="0" anchor="t"/>
          <a:lstStyle/>
          <a:p>
            <a:pPr indent="0" marL="0">
              <a:spcAft>
                <a:spcPts val="800"/>
              </a:spcAft>
              <a:buNone/>
            </a:pPr>
            <a:r>
              <a:rPr lang="en-US" sz="1600" b="1" dirty="0">
                <a:solidFill>
                  <a:srgbClr val="1F2A37"/>
                </a:solidFill>
              </a:rPr>
              <a:t>Bukti: </a:t>
            </a:r>
            <a:pPr indent="0" marL="0">
              <a:spcAft>
                <a:spcPts val="800"/>
              </a:spcAft>
              <a:buNone/>
            </a:pPr>
            <a:r>
              <a:rPr lang="en-US" sz="1600" dirty="0">
                <a:solidFill>
                  <a:srgbClr val="1F2A37"/>
                </a:solidFill>
              </a:rPr>
              <a:t>Versi gunicorn belum dikunci dan audit paket belum dijalankan.</a:t>
            </a:r>
            <a:endParaRPr lang="en-US" sz="1600" dirty="0"/>
          </a:p>
          <a:p>
            <a:pPr indent="0" marL="0">
              <a:spcAft>
                <a:spcPts val="800"/>
              </a:spcAft>
              <a:buNone/>
            </a:pPr>
            <a:r>
              <a:rPr lang="en-US" sz="1600" b="1" dirty="0">
                <a:solidFill>
                  <a:srgbClr val="1F2A37"/>
                </a:solidFill>
              </a:rPr>
              <a:t>Dampak: </a:t>
            </a:r>
            <a:pPr indent="0" marL="0">
              <a:spcAft>
                <a:spcPts val="800"/>
              </a:spcAft>
              <a:buNone/>
            </a:pPr>
            <a:r>
              <a:rPr lang="en-US" sz="1600" dirty="0">
                <a:solidFill>
                  <a:srgbClr val="1F2A37"/>
                </a:solidFill>
              </a:rPr>
              <a:t>Paket usang atau rentan dapat tidak terdeteksi.</a:t>
            </a:r>
            <a:endParaRPr lang="en-US" sz="1600" dirty="0"/>
          </a:p>
        </p:txBody>
      </p:sp>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F2A37"/>
                </a:solidFill>
                <a:latin typeface="Cambria" pitchFamily="34" charset="0"/>
                <a:ea typeface="Cambria" pitchFamily="34" charset="-122"/>
                <a:cs typeface="Cambria" pitchFamily="34" charset="-120"/>
              </a:rPr>
              <a:t>Kontrol yang sudah aman</a:t>
            </a:r>
            <a:endParaRPr lang="en-US" sz="3200" dirty="0"/>
          </a:p>
        </p:txBody>
      </p:sp>
      <p:sp>
        <p:nvSpPr>
          <p:cNvPr id="4" name="Aman 1"/>
          <p:cNvSpPr/>
          <p:nvPr/>
        </p:nvSpPr>
        <p:spPr>
          <a:xfrm>
            <a:off x="457200" y="1097280"/>
            <a:ext cx="4023360" cy="15544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40080" y="1188720"/>
            <a:ext cx="1737360" cy="640080"/>
          </a:xfrm>
          <a:prstGeom prst="rect">
            <a:avLst/>
          </a:prstGeom>
          <a:noFill/>
          <a:ln/>
        </p:spPr>
        <p:txBody>
          <a:bodyPr wrap="square" lIns="0" tIns="0" rIns="0" bIns="0" rtlCol="0" anchor="ctr"/>
          <a:lstStyle/>
          <a:p>
            <a:pPr indent="0" marL="0">
              <a:buNone/>
            </a:pPr>
            <a:r>
              <a:rPr lang="en-US" sz="2600" b="1" dirty="0">
                <a:solidFill>
                  <a:srgbClr val="0E7C73"/>
                </a:solidFill>
                <a:latin typeface="Cambria" pitchFamily="34" charset="0"/>
                <a:ea typeface="Cambria" pitchFamily="34" charset="-122"/>
                <a:cs typeface="Cambria" pitchFamily="34" charset="-120"/>
              </a:rPr>
              <a:t>3 dari 3</a:t>
            </a:r>
            <a:endParaRPr lang="en-US" sz="2600" dirty="0"/>
          </a:p>
        </p:txBody>
      </p:sp>
      <p:sp>
        <p:nvSpPr>
          <p:cNvPr id="6" name="Text 3"/>
          <p:cNvSpPr txBox="1"/>
          <p:nvPr/>
        </p:nvSpPr>
        <p:spPr>
          <a:xfrm>
            <a:off x="2377440" y="1188720"/>
            <a:ext cx="2011680" cy="640080"/>
          </a:xfrm>
          <a:prstGeom prst="rect">
            <a:avLst/>
          </a:prstGeom>
          <a:noFill/>
          <a:ln/>
        </p:spPr>
        <p:txBody>
          <a:bodyPr wrap="square" lIns="0" tIns="0" rIns="0" bIns="0" rtlCol="0" anchor="ctr"/>
          <a:lstStyle/>
          <a:p>
            <a:pPr indent="0" marL="0">
              <a:buNone/>
            </a:pPr>
            <a:r>
              <a:rPr lang="en-US" sz="1400" b="1" dirty="0">
                <a:solidFill>
                  <a:srgbClr val="1F2A37"/>
                </a:solidFill>
              </a:rPr>
              <a:t>payload SQL injection tidak berefek</a:t>
            </a:r>
            <a:endParaRPr lang="en-US" sz="1400" dirty="0"/>
          </a:p>
        </p:txBody>
      </p:sp>
      <p:sp>
        <p:nvSpPr>
          <p:cNvPr id="7" name="Text 4"/>
          <p:cNvSpPr txBox="1"/>
          <p:nvPr/>
        </p:nvSpPr>
        <p:spPr>
          <a:xfrm>
            <a:off x="640080" y="1920240"/>
            <a:ext cx="3657600" cy="640080"/>
          </a:xfrm>
          <a:prstGeom prst="rect">
            <a:avLst/>
          </a:prstGeom>
          <a:noFill/>
          <a:ln/>
        </p:spPr>
        <p:txBody>
          <a:bodyPr wrap="square" lIns="0" tIns="0" rIns="0" bIns="0" rtlCol="0" anchor="t"/>
          <a:lstStyle/>
          <a:p>
            <a:pPr indent="0" marL="0">
              <a:buNone/>
            </a:pPr>
            <a:r>
              <a:rPr lang="en-US" sz="1400" dirty="0">
                <a:solidFill>
                  <a:srgbClr val="5B6B7B"/>
                </a:solidFill>
              </a:rPr>
              <a:t>Tabel produk tetap 17 baris; kueri tetap tanpa input pengguna</a:t>
            </a:r>
            <a:endParaRPr lang="en-US" sz="1400" dirty="0"/>
          </a:p>
        </p:txBody>
      </p:sp>
      <p:sp>
        <p:nvSpPr>
          <p:cNvPr id="8" name="Aman 2"/>
          <p:cNvSpPr/>
          <p:nvPr/>
        </p:nvSpPr>
        <p:spPr>
          <a:xfrm>
            <a:off x="4663440" y="1097280"/>
            <a:ext cx="4023360" cy="15544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846320" y="1188720"/>
            <a:ext cx="1737360" cy="640080"/>
          </a:xfrm>
          <a:prstGeom prst="rect">
            <a:avLst/>
          </a:prstGeom>
          <a:noFill/>
          <a:ln/>
        </p:spPr>
        <p:txBody>
          <a:bodyPr wrap="square" lIns="0" tIns="0" rIns="0" bIns="0" rtlCol="0" anchor="ctr"/>
          <a:lstStyle/>
          <a:p>
            <a:pPr indent="0" marL="0">
              <a:buNone/>
            </a:pPr>
            <a:r>
              <a:rPr lang="en-US" sz="2600" b="1" dirty="0">
                <a:solidFill>
                  <a:srgbClr val="0E7C73"/>
                </a:solidFill>
                <a:latin typeface="Cambria" pitchFamily="34" charset="0"/>
                <a:ea typeface="Cambria" pitchFamily="34" charset="-122"/>
                <a:cs typeface="Cambria" pitchFamily="34" charset="-120"/>
              </a:rPr>
              <a:t>0 dari 4</a:t>
            </a:r>
            <a:endParaRPr lang="en-US" sz="2600" dirty="0"/>
          </a:p>
        </p:txBody>
      </p:sp>
      <p:sp>
        <p:nvSpPr>
          <p:cNvPr id="10" name="Text 7"/>
          <p:cNvSpPr txBox="1"/>
          <p:nvPr/>
        </p:nvSpPr>
        <p:spPr>
          <a:xfrm>
            <a:off x="6583680" y="1188720"/>
            <a:ext cx="2011680" cy="640080"/>
          </a:xfrm>
          <a:prstGeom prst="rect">
            <a:avLst/>
          </a:prstGeom>
          <a:noFill/>
          <a:ln/>
        </p:spPr>
        <p:txBody>
          <a:bodyPr wrap="square" lIns="0" tIns="0" rIns="0" bIns="0" rtlCol="0" anchor="ctr"/>
          <a:lstStyle/>
          <a:p>
            <a:pPr indent="0" marL="0">
              <a:buNone/>
            </a:pPr>
            <a:r>
              <a:rPr lang="en-US" sz="1400" b="1" dirty="0">
                <a:solidFill>
                  <a:srgbClr val="1F2A37"/>
                </a:solidFill>
              </a:rPr>
              <a:t>payload XSS lolos mentah ke HTML</a:t>
            </a:r>
            <a:endParaRPr lang="en-US" sz="1400" dirty="0"/>
          </a:p>
        </p:txBody>
      </p:sp>
      <p:sp>
        <p:nvSpPr>
          <p:cNvPr id="11" name="Text 8"/>
          <p:cNvSpPr txBox="1"/>
          <p:nvPr/>
        </p:nvSpPr>
        <p:spPr>
          <a:xfrm>
            <a:off x="4846320" y="1920240"/>
            <a:ext cx="3657600" cy="640080"/>
          </a:xfrm>
          <a:prstGeom prst="rect">
            <a:avLst/>
          </a:prstGeom>
          <a:noFill/>
          <a:ln/>
        </p:spPr>
        <p:txBody>
          <a:bodyPr wrap="square" lIns="0" tIns="0" rIns="0" bIns="0" rtlCol="0" anchor="t"/>
          <a:lstStyle/>
          <a:p>
            <a:pPr indent="0" marL="0">
              <a:buNone/>
            </a:pPr>
            <a:r>
              <a:rPr lang="en-US" sz="1400" dirty="0">
                <a:solidFill>
                  <a:srgbClr val="5B6B7B"/>
                </a:solidFill>
              </a:rPr>
              <a:t>Jinja2 escaping otomatis dan validasi input</a:t>
            </a:r>
            <a:endParaRPr lang="en-US" sz="1400" dirty="0"/>
          </a:p>
        </p:txBody>
      </p:sp>
      <p:sp>
        <p:nvSpPr>
          <p:cNvPr id="12" name="Aman 3"/>
          <p:cNvSpPr/>
          <p:nvPr/>
        </p:nvSpPr>
        <p:spPr>
          <a:xfrm>
            <a:off x="457200" y="2788920"/>
            <a:ext cx="4023360" cy="15544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640080" y="2880360"/>
            <a:ext cx="1737360" cy="640080"/>
          </a:xfrm>
          <a:prstGeom prst="rect">
            <a:avLst/>
          </a:prstGeom>
          <a:noFill/>
          <a:ln/>
        </p:spPr>
        <p:txBody>
          <a:bodyPr wrap="square" lIns="0" tIns="0" rIns="0" bIns="0" rtlCol="0" anchor="ctr"/>
          <a:lstStyle/>
          <a:p>
            <a:pPr indent="0" marL="0">
              <a:buNone/>
            </a:pPr>
            <a:r>
              <a:rPr lang="en-US" sz="2600" b="1" dirty="0">
                <a:solidFill>
                  <a:srgbClr val="0E7C73"/>
                </a:solidFill>
                <a:latin typeface="Cambria" pitchFamily="34" charset="0"/>
                <a:ea typeface="Cambria" pitchFamily="34" charset="-122"/>
                <a:cs typeface="Cambria" pitchFamily="34" charset="-120"/>
              </a:rPr>
              <a:t>404</a:t>
            </a:r>
            <a:endParaRPr lang="en-US" sz="2600" dirty="0"/>
          </a:p>
        </p:txBody>
      </p:sp>
      <p:sp>
        <p:nvSpPr>
          <p:cNvPr id="14" name="Text 11"/>
          <p:cNvSpPr txBox="1"/>
          <p:nvPr/>
        </p:nvSpPr>
        <p:spPr>
          <a:xfrm>
            <a:off x="2377440" y="2880360"/>
            <a:ext cx="2011680" cy="640080"/>
          </a:xfrm>
          <a:prstGeom prst="rect">
            <a:avLst/>
          </a:prstGeom>
          <a:noFill/>
          <a:ln/>
        </p:spPr>
        <p:txBody>
          <a:bodyPr wrap="square" lIns="0" tIns="0" rIns="0" bIns="0" rtlCol="0" anchor="ctr"/>
          <a:lstStyle/>
          <a:p>
            <a:pPr indent="0" marL="0">
              <a:buNone/>
            </a:pPr>
            <a:r>
              <a:rPr lang="en-US" sz="1400" b="1" dirty="0">
                <a:solidFill>
                  <a:srgbClr val="1F2A37"/>
                </a:solidFill>
              </a:rPr>
              <a:t>akses ../config.py lewat /static</a:t>
            </a:r>
            <a:endParaRPr lang="en-US" sz="1400" dirty="0"/>
          </a:p>
        </p:txBody>
      </p:sp>
      <p:sp>
        <p:nvSpPr>
          <p:cNvPr id="15" name="Text 12"/>
          <p:cNvSpPr txBox="1"/>
          <p:nvPr/>
        </p:nvSpPr>
        <p:spPr>
          <a:xfrm>
            <a:off x="640080" y="3611880"/>
            <a:ext cx="3657600" cy="640080"/>
          </a:xfrm>
          <a:prstGeom prst="rect">
            <a:avLst/>
          </a:prstGeom>
          <a:noFill/>
          <a:ln/>
        </p:spPr>
        <p:txBody>
          <a:bodyPr wrap="square" lIns="0" tIns="0" rIns="0" bIns="0" rtlCol="0" anchor="t"/>
          <a:lstStyle/>
          <a:p>
            <a:pPr indent="0" marL="0">
              <a:buNone/>
            </a:pPr>
            <a:r>
              <a:rPr lang="en-US" sz="1400" dirty="0">
                <a:solidFill>
                  <a:srgbClr val="5B6B7B"/>
                </a:solidFill>
              </a:rPr>
              <a:t>Berkas di luar folder static tidak dapat diunduh</a:t>
            </a:r>
            <a:endParaRPr lang="en-US" sz="1400" dirty="0"/>
          </a:p>
        </p:txBody>
      </p:sp>
      <p:sp>
        <p:nvSpPr>
          <p:cNvPr id="16" name="Aman 4"/>
          <p:cNvSpPr/>
          <p:nvPr/>
        </p:nvSpPr>
        <p:spPr>
          <a:xfrm>
            <a:off x="4663440" y="2788920"/>
            <a:ext cx="4023360" cy="155448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17" name="Text 14"/>
          <p:cNvSpPr txBox="1"/>
          <p:nvPr/>
        </p:nvSpPr>
        <p:spPr>
          <a:xfrm>
            <a:off x="4846320" y="2880360"/>
            <a:ext cx="1737360" cy="640080"/>
          </a:xfrm>
          <a:prstGeom prst="rect">
            <a:avLst/>
          </a:prstGeom>
          <a:noFill/>
          <a:ln/>
        </p:spPr>
        <p:txBody>
          <a:bodyPr wrap="square" lIns="0" tIns="0" rIns="0" bIns="0" rtlCol="0" anchor="ctr"/>
          <a:lstStyle/>
          <a:p>
            <a:pPr indent="0" marL="0">
              <a:buNone/>
            </a:pPr>
            <a:r>
              <a:rPr lang="en-US" sz="2600" b="1" dirty="0">
                <a:solidFill>
                  <a:srgbClr val="0E7C73"/>
                </a:solidFill>
                <a:latin typeface="Cambria" pitchFamily="34" charset="0"/>
                <a:ea typeface="Cambria" pitchFamily="34" charset="-122"/>
                <a:cs typeface="Cambria" pitchFamily="34" charset="-120"/>
              </a:rPr>
              <a:t>404 / 405</a:t>
            </a:r>
            <a:endParaRPr lang="en-US" sz="2600" dirty="0"/>
          </a:p>
        </p:txBody>
      </p:sp>
      <p:sp>
        <p:nvSpPr>
          <p:cNvPr id="18" name="Text 15"/>
          <p:cNvSpPr txBox="1"/>
          <p:nvPr/>
        </p:nvSpPr>
        <p:spPr>
          <a:xfrm>
            <a:off x="6583680" y="2880360"/>
            <a:ext cx="2011680" cy="640080"/>
          </a:xfrm>
          <a:prstGeom prst="rect">
            <a:avLst/>
          </a:prstGeom>
          <a:noFill/>
          <a:ln/>
        </p:spPr>
        <p:txBody>
          <a:bodyPr wrap="square" lIns="0" tIns="0" rIns="0" bIns="0" rtlCol="0" anchor="ctr"/>
          <a:lstStyle/>
          <a:p>
            <a:pPr indent="0" marL="0">
              <a:buNone/>
            </a:pPr>
            <a:r>
              <a:rPr lang="en-US" sz="1400" b="1" dirty="0">
                <a:solidFill>
                  <a:srgbClr val="1F2A37"/>
                </a:solidFill>
              </a:rPr>
              <a:t>rute tak dikenal dan metode salah</a:t>
            </a:r>
            <a:endParaRPr lang="en-US" sz="1400" dirty="0"/>
          </a:p>
        </p:txBody>
      </p:sp>
      <p:sp>
        <p:nvSpPr>
          <p:cNvPr id="19" name="Text 16"/>
          <p:cNvSpPr txBox="1"/>
          <p:nvPr/>
        </p:nvSpPr>
        <p:spPr>
          <a:xfrm>
            <a:off x="4846320" y="3611880"/>
            <a:ext cx="3657600" cy="640080"/>
          </a:xfrm>
          <a:prstGeom prst="rect">
            <a:avLst/>
          </a:prstGeom>
          <a:noFill/>
          <a:ln/>
        </p:spPr>
        <p:txBody>
          <a:bodyPr wrap="square" lIns="0" tIns="0" rIns="0" bIns="0" rtlCol="0" anchor="t"/>
          <a:lstStyle/>
          <a:p>
            <a:pPr indent="0" marL="0">
              <a:buNone/>
            </a:pPr>
            <a:r>
              <a:rPr lang="en-US" sz="1400" dirty="0">
                <a:solidFill>
                  <a:srgbClr val="5B6B7B"/>
                </a:solidFill>
              </a:rPr>
              <a:t>Tanpa jejak tumpukan kode pada respons</a:t>
            </a:r>
            <a:endParaRPr lang="en-US" sz="1400" dirty="0"/>
          </a:p>
        </p:txBody>
      </p:sp>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F2A37"/>
                </a:solidFill>
                <a:latin typeface="Cambria" pitchFamily="34" charset="0"/>
                <a:ea typeface="Cambria" pitchFamily="34" charset="-122"/>
                <a:cs typeface="Cambria" pitchFamily="34" charset="-120"/>
              </a:rPr>
              <a:t>Perbaikan yang sudah diterapkan</a:t>
            </a:r>
            <a:endParaRPr lang="en-US" sz="3200" dirty="0"/>
          </a:p>
        </p:txBody>
      </p:sp>
      <p:graphicFrame>
        <p:nvGraphicFramePr>
          <p:cNvPr id="4" name="Chart 0" descr=""/>
          <p:cNvGraphicFramePr/>
          <p:nvPr/>
        </p:nvGraphicFramePr>
        <p:xfrm>
          <a:off x="457200" y="1097280"/>
          <a:ext cx="3291840" cy="3337560"/>
        </p:xfrm>
        <a:graphic xmlns:a="http://schemas.openxmlformats.org/drawingml/2006/main">
          <a:graphicData uri="http://schemas.openxmlformats.org/drawingml/2006/chart">
            <c:chart xmlns:c="http://schemas.openxmlformats.org/drawingml/2006/chart" r:id="rId1"/>
          </a:graphicData>
        </a:graphic>
      </p:graphicFrame>
      <p:sp>
        <p:nvSpPr>
          <p:cNvPr id="5" name="Daftar perbaikan"/>
          <p:cNvSpPr/>
          <p:nvPr/>
        </p:nvSpPr>
        <p:spPr>
          <a:xfrm>
            <a:off x="4023360" y="1097280"/>
            <a:ext cx="4663440" cy="333756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6" name="Text 2"/>
          <p:cNvSpPr txBox="1"/>
          <p:nvPr/>
        </p:nvSpPr>
        <p:spPr>
          <a:xfrm>
            <a:off x="4206240" y="1280160"/>
            <a:ext cx="4297680"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A37"/>
                </a:solidFill>
              </a:rPr>
              <a:t>5 dari 6 header keamanan terpasang; HSTS diatur di hosting</a:t>
            </a:r>
            <a:endParaRPr lang="en-US" sz="1600" dirty="0"/>
          </a:p>
          <a:p>
            <a:pPr marL="342900" indent="-342900">
              <a:spcAft>
                <a:spcPts val="800"/>
              </a:spcAft>
              <a:buSzPct val="100000"/>
              <a:buChar char="•"/>
            </a:pPr>
            <a:r>
              <a:rPr lang="en-US" sz="1600" dirty="0">
                <a:solidFill>
                  <a:srgbClr val="1F2A37"/>
                </a:solidFill>
              </a:rPr>
              <a:t>Mode debug dikendalikan FLASK_DEBUG, bawaan mati</a:t>
            </a:r>
            <a:endParaRPr lang="en-US" sz="1600" dirty="0"/>
          </a:p>
          <a:p>
            <a:pPr marL="342900" indent="-342900">
              <a:spcAft>
                <a:spcPts val="800"/>
              </a:spcAft>
              <a:buSzPct val="100000"/>
              <a:buChar char="•"/>
            </a:pPr>
            <a:r>
              <a:rPr lang="en-US" sz="1600" dirty="0">
                <a:solidFill>
                  <a:srgbClr val="1F2A37"/>
                </a:solidFill>
              </a:rPr>
              <a:t>Autentikasi HTTP Basic opsional lewat variabel lingkungan</a:t>
            </a:r>
            <a:endParaRPr lang="en-US" sz="1600" dirty="0"/>
          </a:p>
          <a:p>
            <a:pPr marL="342900" indent="-342900">
              <a:spcAft>
                <a:spcPts val="800"/>
              </a:spcAft>
              <a:buSzPct val="100000"/>
              <a:buChar char="•"/>
            </a:pPr>
            <a:r>
              <a:rPr lang="en-US" sz="1600" dirty="0">
                <a:solidFill>
                  <a:srgbClr val="1F2A37"/>
                </a:solidFill>
              </a:rPr>
              <a:t>Panjang parameter filter dibatasi 40 karakter</a:t>
            </a:r>
            <a:endParaRPr lang="en-US" sz="1600" dirty="0"/>
          </a:p>
          <a:p>
            <a:pPr marL="342900" indent="-342900">
              <a:spcAft>
                <a:spcPts val="800"/>
              </a:spcAft>
              <a:buSzPct val="100000"/>
              <a:buChar char="•"/>
            </a:pPr>
            <a:r>
              <a:rPr lang="en-US" sz="1600" dirty="0">
                <a:solidFill>
                  <a:srgbClr val="1F2A37"/>
                </a:solidFill>
              </a:rPr>
              <a:t>Skrip ekspor tidak menyalin tabel admin dan kontak pelanggan</a:t>
            </a:r>
            <a:endParaRPr lang="en-US" sz="1600" dirty="0"/>
          </a:p>
        </p:txBody>
      </p:sp>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F2A37"/>
                </a:solidFill>
                <a:latin typeface="Cambria" pitchFamily="34" charset="0"/>
                <a:ea typeface="Cambria" pitchFamily="34" charset="-122"/>
                <a:cs typeface="Cambria" pitchFamily="34" charset="-120"/>
              </a:rPr>
              <a:t>Rekomendasi berdasarkan prioritas</a:t>
            </a:r>
            <a:endParaRPr lang="en-US" sz="3200" dirty="0"/>
          </a:p>
        </p:txBody>
      </p:sp>
      <p:sp>
        <p:nvSpPr>
          <p:cNvPr id="4" name="Prioritas Segera"/>
          <p:cNvSpPr/>
          <p:nvPr/>
        </p:nvSpPr>
        <p:spPr>
          <a:xfrm>
            <a:off x="457200" y="1097280"/>
            <a:ext cx="2651760" cy="333756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5" name="Label Segera"/>
          <p:cNvSpPr/>
          <p:nvPr/>
        </p:nvSpPr>
        <p:spPr>
          <a:xfrm>
            <a:off x="640080" y="1280160"/>
            <a:ext cx="2286000" cy="411480"/>
          </a:xfrm>
          <a:prstGeom prst="roundRect">
            <a:avLst>
              <a:gd name="adj" fmla="val 22222"/>
            </a:avLst>
          </a:prstGeom>
          <a:solidFill>
            <a:srgbClr val="D64933"/>
          </a:solidFill>
          <a:ln w="12700">
            <a:solidFill>
              <a:srgbClr val="D64933"/>
            </a:solidFill>
            <a:prstDash val="solid"/>
          </a:ln>
        </p:spPr>
      </p:sp>
      <p:sp>
        <p:nvSpPr>
          <p:cNvPr id="6" name="Text 3"/>
          <p:cNvSpPr txBox="1"/>
          <p:nvPr/>
        </p:nvSpPr>
        <p:spPr>
          <a:xfrm>
            <a:off x="640080" y="1280160"/>
            <a:ext cx="2286000" cy="411480"/>
          </a:xfrm>
          <a:prstGeom prst="rect">
            <a:avLst/>
          </a:prstGeom>
          <a:noFill/>
          <a:ln/>
        </p:spPr>
        <p:txBody>
          <a:bodyPr wrap="square" lIns="0" tIns="0" rIns="0" bIns="0" rtlCol="0" anchor="ctr"/>
          <a:lstStyle/>
          <a:p>
            <a:pPr algn="ctr" indent="0" marL="0">
              <a:buNone/>
            </a:pPr>
            <a:r>
              <a:rPr lang="en-US" sz="1600" b="1" dirty="0">
                <a:solidFill>
                  <a:srgbClr val="FFFFFF"/>
                </a:solidFill>
              </a:rPr>
              <a:t>Segera</a:t>
            </a:r>
            <a:endParaRPr lang="en-US" sz="1600" dirty="0"/>
          </a:p>
        </p:txBody>
      </p:sp>
      <p:sp>
        <p:nvSpPr>
          <p:cNvPr id="7" name="Text 4"/>
          <p:cNvSpPr txBox="1"/>
          <p:nvPr/>
        </p:nvSpPr>
        <p:spPr>
          <a:xfrm>
            <a:off x="640080" y="1874520"/>
            <a:ext cx="233172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A37"/>
                </a:solidFill>
              </a:rPr>
              <a:t>Aktifkan autentikasi bila data riil</a:t>
            </a:r>
            <a:endParaRPr lang="en-US" sz="1500" dirty="0"/>
          </a:p>
          <a:p>
            <a:pPr marL="342900" indent="-342900">
              <a:spcAft>
                <a:spcPts val="800"/>
              </a:spcAft>
              <a:buSzPct val="100000"/>
              <a:buChar char="•"/>
            </a:pPr>
            <a:r>
              <a:rPr lang="en-US" sz="1500" dirty="0">
                <a:solidFill>
                  <a:srgbClr val="1F2A37"/>
                </a:solidFill>
              </a:rPr>
              <a:t>Ganti root dengan pengguna MySQL hanya-baca</a:t>
            </a:r>
            <a:endParaRPr lang="en-US" sz="1500" dirty="0"/>
          </a:p>
          <a:p>
            <a:pPr marL="342900" indent="-342900">
              <a:spcAft>
                <a:spcPts val="800"/>
              </a:spcAft>
              <a:buSzPct val="100000"/>
              <a:buChar char="•"/>
            </a:pPr>
            <a:r>
              <a:rPr lang="en-US" sz="1500" dirty="0">
                <a:solidFill>
                  <a:srgbClr val="1F2A37"/>
                </a:solidFill>
              </a:rPr>
              <a:t>Pastikan .db publik tanpa tabel admin</a:t>
            </a:r>
            <a:endParaRPr lang="en-US" sz="1500" dirty="0"/>
          </a:p>
        </p:txBody>
      </p:sp>
      <p:sp>
        <p:nvSpPr>
          <p:cNvPr id="8" name="Prioritas Jangka pendek"/>
          <p:cNvSpPr/>
          <p:nvPr/>
        </p:nvSpPr>
        <p:spPr>
          <a:xfrm>
            <a:off x="3246120" y="1097280"/>
            <a:ext cx="2651760" cy="333756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9" name="Label Jangka pendek"/>
          <p:cNvSpPr/>
          <p:nvPr/>
        </p:nvSpPr>
        <p:spPr>
          <a:xfrm>
            <a:off x="3429000" y="1280160"/>
            <a:ext cx="2286000" cy="411480"/>
          </a:xfrm>
          <a:prstGeom prst="roundRect">
            <a:avLst>
              <a:gd name="adj" fmla="val 22222"/>
            </a:avLst>
          </a:prstGeom>
          <a:solidFill>
            <a:srgbClr val="F2B134"/>
          </a:solidFill>
          <a:ln w="12700">
            <a:solidFill>
              <a:srgbClr val="F2B134"/>
            </a:solidFill>
            <a:prstDash val="solid"/>
          </a:ln>
        </p:spPr>
      </p:sp>
      <p:sp>
        <p:nvSpPr>
          <p:cNvPr id="10" name="Text 7"/>
          <p:cNvSpPr txBox="1"/>
          <p:nvPr/>
        </p:nvSpPr>
        <p:spPr>
          <a:xfrm>
            <a:off x="3429000" y="1280160"/>
            <a:ext cx="2286000" cy="411480"/>
          </a:xfrm>
          <a:prstGeom prst="rect">
            <a:avLst/>
          </a:prstGeom>
          <a:noFill/>
          <a:ln/>
        </p:spPr>
        <p:txBody>
          <a:bodyPr wrap="square" lIns="0" tIns="0" rIns="0" bIns="0" rtlCol="0" anchor="ctr"/>
          <a:lstStyle/>
          <a:p>
            <a:pPr algn="ctr" indent="0" marL="0">
              <a:buNone/>
            </a:pPr>
            <a:r>
              <a:rPr lang="en-US" sz="1600" b="1" dirty="0">
                <a:solidFill>
                  <a:srgbClr val="1F2A37"/>
                </a:solidFill>
              </a:rPr>
              <a:t>Jangka pendek</a:t>
            </a:r>
            <a:endParaRPr lang="en-US" sz="1600" dirty="0"/>
          </a:p>
        </p:txBody>
      </p:sp>
      <p:sp>
        <p:nvSpPr>
          <p:cNvPr id="11" name="Text 8"/>
          <p:cNvSpPr txBox="1"/>
          <p:nvPr/>
        </p:nvSpPr>
        <p:spPr>
          <a:xfrm>
            <a:off x="3429000" y="1874520"/>
            <a:ext cx="233172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A37"/>
                </a:solidFill>
              </a:rPr>
              <a:t>Tambahkan SRI atau host aset sendiri</a:t>
            </a:r>
            <a:endParaRPr lang="en-US" sz="1500" dirty="0"/>
          </a:p>
          <a:p>
            <a:pPr marL="342900" indent="-342900">
              <a:spcAft>
                <a:spcPts val="800"/>
              </a:spcAft>
              <a:buSzPct val="100000"/>
              <a:buChar char="•"/>
            </a:pPr>
            <a:r>
              <a:rPr lang="en-US" sz="1500" dirty="0">
                <a:solidFill>
                  <a:srgbClr val="1F2A37"/>
                </a:solidFill>
              </a:rPr>
              <a:t>Kunci versi paket, jalankan pip-audit</a:t>
            </a:r>
            <a:endParaRPr lang="en-US" sz="1500" dirty="0"/>
          </a:p>
          <a:p>
            <a:pPr marL="342900" indent="-342900">
              <a:spcAft>
                <a:spcPts val="800"/>
              </a:spcAft>
              <a:buSzPct val="100000"/>
              <a:buChar char="•"/>
            </a:pPr>
            <a:r>
              <a:rPr lang="en-US" sz="1500" dirty="0">
                <a:solidFill>
                  <a:srgbClr val="1F2A37"/>
                </a:solidFill>
              </a:rPr>
              <a:t>Batasi laju atau cache hasil, aktifkan HSTS</a:t>
            </a:r>
            <a:endParaRPr lang="en-US" sz="1500" dirty="0"/>
          </a:p>
        </p:txBody>
      </p:sp>
      <p:sp>
        <p:nvSpPr>
          <p:cNvPr id="12" name="Prioritas Jangka panjang"/>
          <p:cNvSpPr/>
          <p:nvPr/>
        </p:nvSpPr>
        <p:spPr>
          <a:xfrm>
            <a:off x="6035040" y="1097280"/>
            <a:ext cx="2651760" cy="3337560"/>
          </a:xfrm>
          <a:prstGeom prst="rect">
            <a:avLst/>
          </a:prstGeom>
          <a:solidFill>
            <a:srgbClr val="FFFFFF"/>
          </a:solidFill>
          <a:ln w="9525">
            <a:solidFill>
              <a:srgbClr val="E6EAEF"/>
            </a:solidFill>
            <a:prstDash val="solid"/>
          </a:ln>
          <a:effectLst>
            <a:outerShdw sx="100000" sy="100000" kx="0" ky="0" algn="bl" rotWithShape="0" blurRad="76200" dist="25400" dir="5400000">
              <a:srgbClr val="000000">
                <a:alpha val="12000"/>
              </a:srgbClr>
            </a:outerShdw>
          </a:effectLst>
        </p:spPr>
      </p:sp>
      <p:sp>
        <p:nvSpPr>
          <p:cNvPr id="13" name="Label Jangka panjang"/>
          <p:cNvSpPr/>
          <p:nvPr/>
        </p:nvSpPr>
        <p:spPr>
          <a:xfrm>
            <a:off x="6217920" y="1280160"/>
            <a:ext cx="2286000" cy="411480"/>
          </a:xfrm>
          <a:prstGeom prst="roundRect">
            <a:avLst>
              <a:gd name="adj" fmla="val 22222"/>
            </a:avLst>
          </a:prstGeom>
          <a:solidFill>
            <a:srgbClr val="0E7C73"/>
          </a:solidFill>
          <a:ln w="12700">
            <a:solidFill>
              <a:srgbClr val="0E7C73"/>
            </a:solidFill>
            <a:prstDash val="solid"/>
          </a:ln>
        </p:spPr>
      </p:sp>
      <p:sp>
        <p:nvSpPr>
          <p:cNvPr id="14" name="Text 11"/>
          <p:cNvSpPr txBox="1"/>
          <p:nvPr/>
        </p:nvSpPr>
        <p:spPr>
          <a:xfrm>
            <a:off x="6217920" y="1280160"/>
            <a:ext cx="2286000" cy="411480"/>
          </a:xfrm>
          <a:prstGeom prst="rect">
            <a:avLst/>
          </a:prstGeom>
          <a:noFill/>
          <a:ln/>
        </p:spPr>
        <p:txBody>
          <a:bodyPr wrap="square" lIns="0" tIns="0" rIns="0" bIns="0" rtlCol="0" anchor="ctr"/>
          <a:lstStyle/>
          <a:p>
            <a:pPr algn="ctr" indent="0" marL="0">
              <a:buNone/>
            </a:pPr>
            <a:r>
              <a:rPr lang="en-US" sz="1600" b="1" dirty="0">
                <a:solidFill>
                  <a:srgbClr val="FFFFFF"/>
                </a:solidFill>
              </a:rPr>
              <a:t>Jangka panjang</a:t>
            </a:r>
            <a:endParaRPr lang="en-US" sz="1600" dirty="0"/>
          </a:p>
        </p:txBody>
      </p:sp>
      <p:sp>
        <p:nvSpPr>
          <p:cNvPr id="15" name="Text 12"/>
          <p:cNvSpPr txBox="1"/>
          <p:nvPr/>
        </p:nvSpPr>
        <p:spPr>
          <a:xfrm>
            <a:off x="6217920" y="1874520"/>
            <a:ext cx="233172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A37"/>
                </a:solidFill>
              </a:rPr>
              <a:t>CSP berbasis nonce tanpa unsafe-inline</a:t>
            </a:r>
            <a:endParaRPr lang="en-US" sz="1500" dirty="0"/>
          </a:p>
          <a:p>
            <a:pPr marL="342900" indent="-342900">
              <a:spcAft>
                <a:spcPts val="800"/>
              </a:spcAft>
              <a:buSzPct val="100000"/>
              <a:buChar char="•"/>
            </a:pPr>
            <a:r>
              <a:rPr lang="en-US" sz="1500" dirty="0">
                <a:solidFill>
                  <a:srgbClr val="1F2A37"/>
                </a:solidFill>
              </a:rPr>
              <a:t>Hash kata sandi (bcrypt atau Argon2)</a:t>
            </a:r>
            <a:endParaRPr lang="en-US" sz="1500" dirty="0"/>
          </a:p>
          <a:p>
            <a:pPr marL="342900" indent="-342900">
              <a:spcAft>
                <a:spcPts val="800"/>
              </a:spcAft>
              <a:buSzPct val="100000"/>
              <a:buChar char="•"/>
            </a:pPr>
            <a:r>
              <a:rPr lang="en-US" sz="1500" dirty="0">
                <a:solidFill>
                  <a:srgbClr val="1F2A37"/>
                </a:solidFill>
              </a:rPr>
              <a:t>Logging, pemantauan, kebijakan data pribadi</a:t>
            </a:r>
            <a:endParaRPr lang="en-US" sz="1500" dirty="0"/>
          </a:p>
        </p:txBody>
      </p:sp>
      <p:sp>
        <p:nvSpPr>
          <p:cNvPr id="25" name="Slide Number Placeholder 0"/>
          <p:cNvSpPr>
            <a:spLocks noGrp="1"/>
          </p:cNvSpPr>
          <p:nvPr>
            <p:ph type="sldNum" sz="quarter" idx="4294967295"/>
          </p:nvPr>
        </p:nvSpPr>
        <p:spPr>
          <a:xfrm>
            <a:off x="4114800" y="46634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4" type="title" hasCustomPrompt="1"/>
          </p:nvPr>
        </p:nvSpPr>
        <p:spPr>
          <a:xfrm>
            <a:off x="457200" y="411480"/>
            <a:ext cx="8229600" cy="82296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Kesimpulan</a:t>
            </a:r>
            <a:endParaRPr lang="en-US" sz="3600" dirty="0"/>
          </a:p>
        </p:txBody>
      </p:sp>
      <p:sp>
        <p:nvSpPr>
          <p:cNvPr id="3" name="Text 1"/>
          <p:cNvSpPr txBox="1"/>
          <p:nvPr/>
        </p:nvSpPr>
        <p:spPr>
          <a:xfrm>
            <a:off x="457200" y="1554480"/>
            <a:ext cx="8229600" cy="21945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Tidak ada temuan kritis atau tinggi; 4 sedang dan 4 rendah</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Injeksi SQL dan XSS tertangani dengan baik</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Kelemahan utama ada pada konfigurasi dan kontrol akses</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Terapkan autentikasi, amankan database, lengkapi perlindungan rantai pasok, audit berkala</a:t>
            </a:r>
            <a:endParaRPr lang="en-US" sz="1800" dirty="0"/>
          </a:p>
        </p:txBody>
      </p:sp>
      <p:sp>
        <p:nvSpPr>
          <p:cNvPr id="4" name="Text 2"/>
          <p:cNvSpPr txBox="1"/>
          <p:nvPr/>
        </p:nvSpPr>
        <p:spPr>
          <a:xfrm>
            <a:off x="457200" y="3840480"/>
            <a:ext cx="8229600" cy="548640"/>
          </a:xfrm>
          <a:prstGeom prst="rect">
            <a:avLst/>
          </a:prstGeom>
          <a:noFill/>
          <a:ln/>
        </p:spPr>
        <p:txBody>
          <a:bodyPr wrap="square" lIns="0" tIns="0" rIns="0" bIns="0" rtlCol="0" anchor="ctr"/>
          <a:lstStyle/>
          <a:p>
            <a:pPr indent="0" marL="0">
              <a:buNone/>
            </a:pPr>
            <a:r>
              <a:rPr lang="en-US" sz="2600" b="1" dirty="0">
                <a:solidFill>
                  <a:srgbClr val="F2B134"/>
                </a:solidFill>
                <a:latin typeface="Cambria" pitchFamily="34" charset="0"/>
                <a:ea typeface="Cambria" pitchFamily="34" charset="-122"/>
                <a:cs typeface="Cambria" pitchFamily="34" charset="-120"/>
              </a:rPr>
              <a:t>Terima kasih</a:t>
            </a:r>
            <a:endParaRPr lang="en-US" sz="2600" dirty="0"/>
          </a:p>
        </p:txBody>
      </p:sp>
    </p:spTree>
  </p:cSld>
  <p:clrMapOvr>
    <a:masterClrMapping/>
  </p:clrMapOvr>
</p:sld>
</file>

<file path=ppt/theme/theme1.xml><?xml version="1.0" encoding="utf-8"?>
<a:theme xmlns:a="http://schemas.openxmlformats.org/drawingml/2006/main" name="Keamanan Sinar Jaya">
  <a:themeElements>
    <a:clrScheme name="Keamanan Sinar Jaya">
      <a:dk1>
        <a:srgbClr val="1F2A37"/>
      </a:dk1>
      <a:lt1>
        <a:srgbClr val="FFFFFF"/>
      </a:lt1>
      <a:dk2>
        <a:srgbClr val="5B6B7B"/>
      </a:dk2>
      <a:lt2>
        <a:srgbClr val="F4F6F8"/>
      </a:lt2>
      <a:accent1>
        <a:srgbClr val="D64933"/>
      </a:accent1>
      <a:accent2>
        <a:srgbClr val="F2B134"/>
      </a:accent2>
      <a:accent3>
        <a:srgbClr val="0E7C73"/>
      </a:accent3>
      <a:accent4>
        <a:srgbClr val="E6EAEF"/>
      </a:accent4>
      <a:accent5>
        <a:srgbClr val="3D5A80"/>
      </a:accent5>
      <a:accent6>
        <a:srgbClr val="8D99AE"/>
      </a:accent6>
      <a:hlink>
        <a:srgbClr val="0E7C73"/>
      </a:hlink>
      <a:folHlink>
        <a:srgbClr val="5B6B7B"/>
      </a:folHlink>
    </a:clrScheme>
    <a:fontScheme name="Keamanan Sinar Ja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Analisis Kerentanan dan Keamanan Website</dc:title>
  <dc:subject>PptxGenJS Presentation</dc:subject>
  <dc:creator>[Nama Lengkap Peserta]</dc:creator>
  <cp:lastModifiedBy>[Nama Lengkap Peserta]</cp:lastModifiedBy>
  <cp:revision>1</cp:revision>
  <dcterms:created xsi:type="dcterms:W3CDTF">2026-10-24T07:30:04Z</dcterms:created>
  <dcterms:modified xsi:type="dcterms:W3CDTF">2026-10-24T07:30:04Z</dcterms:modified>
</cp:coreProperties>
</file>