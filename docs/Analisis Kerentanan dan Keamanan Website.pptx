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1"/>
  </p:sldMasterIdLst>
  <p:notesMasterIdLst>
    <p:notesMasterId r:id="rId17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57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87687" autoAdjust="0"/>
  </p:normalViewPr>
  <p:slideViewPr>
    <p:cSldViewPr>
      <p:cViewPr>
        <p:scale>
          <a:sx n="100" d="100"/>
          <a:sy n="100" d="100"/>
        </p:scale>
        <p:origin x="-432" y="3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3CE64A-EAF9-4413-9043-CEB81A32785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50A464-298C-4DEB-9162-77756C1A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04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FE80C-0754-4347-964E-98BEA8DD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060A1-128F-4761-912B-0C0C1FE3F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874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FE80C-0754-4347-964E-98BEA8DD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060A1-128F-4761-912B-0C0C1FE3F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296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FE80C-0754-4347-964E-98BEA8DD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060A1-128F-4761-912B-0C0C1FE3F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12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FE80C-0754-4347-964E-98BEA8DD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060A1-128F-4761-912B-0C0C1FE3F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66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FE80C-0754-4347-964E-98BEA8DD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060A1-128F-4761-912B-0C0C1FE3F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612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FE80C-0754-4347-964E-98BEA8DD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060A1-128F-4761-912B-0C0C1FE3F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107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FE80C-0754-4347-964E-98BEA8DD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060A1-128F-4761-912B-0C0C1FE3F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75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FE80C-0754-4347-964E-98BEA8DD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060A1-128F-4761-912B-0C0C1FE3F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380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FE80C-0754-4347-964E-98BEA8DD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060A1-128F-4761-912B-0C0C1FE3F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0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FE80C-0754-4347-964E-98BEA8DD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060A1-128F-4761-912B-0C0C1FE3F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242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FE80C-0754-4347-964E-98BEA8DD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060A1-128F-4761-912B-0C0C1FE3F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93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"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>
            <a:spLocks noGrp="1"/>
          </p:cNvSpPr>
          <p:nvPr>
            <p:ph type="title" idx="104" hasCustomPrompt="1"/>
          </p:nvPr>
        </p:nvSpPr>
        <p:spPr>
          <a:xfrm>
            <a:off x="457200" y="134112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5" name="Text 2"/>
          <p:cNvSpPr>
            <a:spLocks noGrp="1"/>
          </p:cNvSpPr>
          <p:nvPr>
            <p:ph type="body" idx="105" hasCustomPrompt="1"/>
          </p:nvPr>
        </p:nvSpPr>
        <p:spPr>
          <a:xfrm>
            <a:off x="457200" y="3352800"/>
            <a:ext cx="8229600" cy="85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51178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FE80C-0754-4347-964E-98BEA8DD525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060A1-128F-4761-912B-0C0C1FE3F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402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/>
          </p:nvPr>
        </p:nvSpPr>
        <p:spPr>
          <a:xfrm>
            <a:off x="457200" y="17526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Kerentanan dan Keamanan Website</a:t>
            </a:r>
            <a:endParaRPr lang="en-US" sz="4000" dirty="0"/>
          </a:p>
        </p:txBody>
      </p:sp>
      <p:sp>
        <p:nvSpPr>
          <p:cNvPr id="3" name="Text 2"/>
          <p:cNvSpPr>
            <a:spLocks noGrp="1"/>
          </p:cNvSpPr>
          <p:nvPr>
            <p:ph type="body" idx="105"/>
          </p:nvPr>
        </p:nvSpPr>
        <p:spPr>
          <a:xfrm>
            <a:off x="457200" y="3261360"/>
            <a:ext cx="822960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Analitik Toko Bangunan Sinar Jaya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992880"/>
            <a:ext cx="82296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Akhmad</a:t>
            </a: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Arjito</a:t>
            </a:r>
            <a:endParaRPr lang="en-US" sz="1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Sarana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Informatika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Konsultan Inovasi Digital</a:t>
            </a:r>
            <a:endParaRPr lang="en-US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228600"/>
            <a:ext cx="852311" cy="838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105"/>
            <a:ext cx="990600" cy="99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304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/>
          </p:nvPr>
        </p:nvSpPr>
        <p:spPr>
          <a:xfrm>
            <a:off x="457200" y="1752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 err="1" smtClean="0">
                <a:solidFill>
                  <a:srgbClr val="FFFFFF"/>
                </a:solidFill>
              </a:rPr>
              <a:t>Tujuan</a:t>
            </a:r>
            <a:r>
              <a:rPr lang="en-US" sz="3200" b="1" dirty="0" smtClean="0">
                <a:solidFill>
                  <a:srgbClr val="FFFFFF"/>
                </a:solidFill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</a:rPr>
              <a:t>dan</a:t>
            </a:r>
            <a:r>
              <a:rPr lang="en-US" sz="3200" b="1" dirty="0" smtClean="0">
                <a:solidFill>
                  <a:srgbClr val="FFFFFF"/>
                </a:solidFill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</a:rPr>
              <a:t>ringkasan</a:t>
            </a:r>
            <a:r>
              <a:rPr lang="en-US" sz="3200" b="1" dirty="0" smtClean="0">
                <a:solidFill>
                  <a:srgbClr val="FFFFFF"/>
                </a:solidFill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</a:rPr>
              <a:t>eksekutif</a:t>
            </a:r>
            <a:endParaRPr lang="en-US" sz="3200" dirty="0"/>
          </a:p>
        </p:txBody>
      </p:sp>
      <p:sp>
        <p:nvSpPr>
          <p:cNvPr id="3" name="Text 2"/>
          <p:cNvSpPr>
            <a:spLocks noGrp="1"/>
          </p:cNvSpPr>
          <p:nvPr>
            <p:ph type="body" idx="105"/>
          </p:nvPr>
        </p:nvSpPr>
        <p:spPr>
          <a:xfrm>
            <a:off x="457200" y="3185160"/>
            <a:ext cx="822960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r>
              <a:rPr lang="en-US" dirty="0"/>
              <a:t> </a:t>
            </a:r>
            <a:r>
              <a:rPr lang="en-US" dirty="0" err="1" smtClean="0"/>
              <a:t>Analisis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0"/>
            <a:ext cx="82296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Mengidentifikasikan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Kerentanan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website</a:t>
            </a:r>
          </a:p>
          <a:p>
            <a:pPr marL="342900" indent="-34290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Menilai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dampak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risikonya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bagi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pemilik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toko</a:t>
            </a:r>
            <a:endParaRPr lang="en-US" sz="1600" dirty="0" smtClean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Memberi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perbaikan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dan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rekomendasi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yang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dapat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ditindaklanjuti</a:t>
            </a:r>
            <a:endParaRPr lang="en-US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228600"/>
            <a:ext cx="852311" cy="838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105"/>
            <a:ext cx="990600" cy="99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455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/>
          </p:nvPr>
        </p:nvSpPr>
        <p:spPr>
          <a:xfrm>
            <a:off x="457200" y="1752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 err="1" smtClean="0">
                <a:solidFill>
                  <a:srgbClr val="FFFFFF"/>
                </a:solidFill>
              </a:rPr>
              <a:t>Ruang</a:t>
            </a:r>
            <a:r>
              <a:rPr lang="en-US" sz="3200" b="1" dirty="0" smtClean="0">
                <a:solidFill>
                  <a:srgbClr val="FFFFFF"/>
                </a:solidFill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</a:rPr>
              <a:t>lingkup</a:t>
            </a:r>
            <a:r>
              <a:rPr lang="en-US" sz="3200" b="1" dirty="0" smtClean="0">
                <a:solidFill>
                  <a:srgbClr val="FFFFFF"/>
                </a:solidFill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</a:rPr>
              <a:t>dan</a:t>
            </a:r>
            <a:r>
              <a:rPr lang="en-US" sz="3200" b="1" dirty="0" smtClean="0">
                <a:solidFill>
                  <a:srgbClr val="FFFFFF"/>
                </a:solidFill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</a:rPr>
              <a:t>metodologi</a:t>
            </a:r>
            <a:endParaRPr lang="en-US" sz="3200" dirty="0"/>
          </a:p>
        </p:txBody>
      </p:sp>
      <p:sp>
        <p:nvSpPr>
          <p:cNvPr id="3" name="Text 2"/>
          <p:cNvSpPr>
            <a:spLocks noGrp="1"/>
          </p:cNvSpPr>
          <p:nvPr>
            <p:ph type="body" idx="105"/>
          </p:nvPr>
        </p:nvSpPr>
        <p:spPr>
          <a:xfrm>
            <a:off x="485775" y="2651760"/>
            <a:ext cx="262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2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Tinjauan</a:t>
            </a:r>
            <a:r>
              <a:rPr lang="en-US" sz="2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86100"/>
            <a:ext cx="266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Pembacaan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manual app.py, config.py,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skrip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ekspor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dan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templat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HTML</a:t>
            </a:r>
            <a:endParaRPr lang="en-US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228600"/>
            <a:ext cx="852311" cy="838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105"/>
            <a:ext cx="990600" cy="999187"/>
          </a:xfrm>
          <a:prstGeom prst="rect">
            <a:avLst/>
          </a:prstGeom>
        </p:spPr>
      </p:pic>
      <p:sp>
        <p:nvSpPr>
          <p:cNvPr id="7" name="Text 2"/>
          <p:cNvSpPr txBox="1">
            <a:spLocks/>
          </p:cNvSpPr>
          <p:nvPr/>
        </p:nvSpPr>
        <p:spPr>
          <a:xfrm>
            <a:off x="3162300" y="2667000"/>
            <a:ext cx="2476500" cy="3105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000" kern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2. </a:t>
            </a:r>
            <a:r>
              <a:rPr lang="en-US" dirty="0" err="1" smtClean="0"/>
              <a:t>Uji</a:t>
            </a:r>
            <a:r>
              <a:rPr lang="en-US" dirty="0" smtClean="0"/>
              <a:t> </a:t>
            </a:r>
            <a:r>
              <a:rPr lang="en-US" dirty="0" err="1" smtClean="0"/>
              <a:t>dinamis</a:t>
            </a:r>
            <a:r>
              <a:rPr lang="en-US" dirty="0" smtClean="0"/>
              <a:t> </a:t>
            </a:r>
            <a:r>
              <a:rPr lang="en-US" dirty="0" err="1" smtClean="0"/>
              <a:t>Lokal</a:t>
            </a:r>
            <a:endParaRPr lang="en-US" dirty="0"/>
          </a:p>
        </p:txBody>
      </p:sp>
      <p:sp>
        <p:nvSpPr>
          <p:cNvPr id="8" name="Text 2"/>
          <p:cNvSpPr txBox="1"/>
          <p:nvPr/>
        </p:nvSpPr>
        <p:spPr>
          <a:xfrm>
            <a:off x="3200400" y="3124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Header HTTP,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Injeksi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SQL, XSS,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akses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file,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penanganan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error,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beban</a:t>
            </a:r>
            <a:endParaRPr lang="en-US" sz="1600" dirty="0"/>
          </a:p>
        </p:txBody>
      </p:sp>
      <p:sp>
        <p:nvSpPr>
          <p:cNvPr id="9" name="Text 2"/>
          <p:cNvSpPr txBox="1">
            <a:spLocks/>
          </p:cNvSpPr>
          <p:nvPr/>
        </p:nvSpPr>
        <p:spPr>
          <a:xfrm>
            <a:off x="6210300" y="2686050"/>
            <a:ext cx="2476500" cy="3105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000" kern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3. </a:t>
            </a:r>
            <a:r>
              <a:rPr lang="en-US" dirty="0" err="1" smtClean="0"/>
              <a:t>Konfigurasi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data</a:t>
            </a:r>
            <a:endParaRPr lang="en-US" dirty="0"/>
          </a:p>
        </p:txBody>
      </p:sp>
      <p:sp>
        <p:nvSpPr>
          <p:cNvPr id="10" name="Text 2"/>
          <p:cNvSpPr txBox="1"/>
          <p:nvPr/>
        </p:nvSpPr>
        <p:spPr>
          <a:xfrm>
            <a:off x="6248400" y="314325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Isi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Github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berkas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data,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kredensial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bawaam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dependensi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84300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/>
          <p:cNvSpPr/>
          <p:nvPr/>
        </p:nvSpPr>
        <p:spPr>
          <a:xfrm>
            <a:off x="457200" y="2514600"/>
            <a:ext cx="3931920" cy="4572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13"/>
          <p:cNvSpPr txBox="1"/>
          <p:nvPr/>
        </p:nvSpPr>
        <p:spPr>
          <a:xfrm>
            <a:off x="457200" y="2514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/>
              <a:t>CDN: Bootstrap dan Plotly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57060" y="3209925"/>
            <a:ext cx="1722120" cy="8839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4829175" y="3185160"/>
            <a:ext cx="1722120" cy="8839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2659380" y="3185160"/>
            <a:ext cx="1722120" cy="8839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510540" y="3209925"/>
            <a:ext cx="1722120" cy="8839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2"/>
          <p:cNvSpPr>
            <a:spLocks noGrp="1"/>
          </p:cNvSpPr>
          <p:nvPr>
            <p:ph type="title" idx="104"/>
          </p:nvPr>
        </p:nvSpPr>
        <p:spPr>
          <a:xfrm>
            <a:off x="457200" y="1752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 err="1" smtClean="0">
                <a:solidFill>
                  <a:srgbClr val="FFFFFF"/>
                </a:solidFill>
              </a:rPr>
              <a:t>Arsitektur</a:t>
            </a:r>
            <a:r>
              <a:rPr lang="en-US" sz="3200" b="1" dirty="0" smtClean="0">
                <a:solidFill>
                  <a:srgbClr val="FFFFFF"/>
                </a:solidFill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</a:rPr>
              <a:t>dan</a:t>
            </a:r>
            <a:r>
              <a:rPr lang="en-US" sz="3200" b="1" dirty="0" smtClean="0">
                <a:solidFill>
                  <a:srgbClr val="FFFFFF"/>
                </a:solidFill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</a:rPr>
              <a:t>permukaan</a:t>
            </a:r>
            <a:r>
              <a:rPr lang="en-US" sz="3200" b="1" dirty="0" smtClean="0">
                <a:solidFill>
                  <a:srgbClr val="FFFFFF"/>
                </a:solidFill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</a:rPr>
              <a:t>serangan</a:t>
            </a:r>
            <a:r>
              <a:rPr lang="en-US" sz="3200" b="1" dirty="0" smtClean="0">
                <a:solidFill>
                  <a:srgbClr val="FFFFFF"/>
                </a:solidFill>
              </a:rPr>
              <a:t> </a:t>
            </a:r>
            <a:endParaRPr lang="en-US" sz="3200" dirty="0"/>
          </a:p>
        </p:txBody>
      </p:sp>
      <p:sp>
        <p:nvSpPr>
          <p:cNvPr id="3" name="Text 2"/>
          <p:cNvSpPr>
            <a:spLocks noGrp="1"/>
          </p:cNvSpPr>
          <p:nvPr>
            <p:ph type="body" idx="105"/>
          </p:nvPr>
        </p:nvSpPr>
        <p:spPr>
          <a:xfrm>
            <a:off x="257175" y="4594860"/>
            <a:ext cx="262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 smtClean="0"/>
              <a:t>1. Parameter filter di URL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228600"/>
            <a:ext cx="852311" cy="838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105"/>
            <a:ext cx="990600" cy="999187"/>
          </a:xfrm>
          <a:prstGeom prst="rect">
            <a:avLst/>
          </a:prstGeom>
        </p:spPr>
      </p:pic>
      <p:sp>
        <p:nvSpPr>
          <p:cNvPr id="12" name="Text 2"/>
          <p:cNvSpPr txBox="1"/>
          <p:nvPr/>
        </p:nvSpPr>
        <p:spPr>
          <a:xfrm>
            <a:off x="457200" y="31242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Pengguna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Browser</a:t>
            </a:r>
            <a:endParaRPr lang="en-US" sz="1600" dirty="0"/>
          </a:p>
        </p:txBody>
      </p:sp>
      <p:sp>
        <p:nvSpPr>
          <p:cNvPr id="13" name="Panah 1"/>
          <p:cNvSpPr/>
          <p:nvPr/>
        </p:nvSpPr>
        <p:spPr>
          <a:xfrm>
            <a:off x="2331720" y="3489960"/>
            <a:ext cx="228600" cy="228600"/>
          </a:xfrm>
          <a:prstGeom prst="rightArrow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14" name="Text 5"/>
          <p:cNvSpPr txBox="1"/>
          <p:nvPr/>
        </p:nvSpPr>
        <p:spPr>
          <a:xfrm>
            <a:off x="2606040" y="31242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Hosting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PythonAnywhere (HTTPS)</a:t>
            </a:r>
            <a:endParaRPr lang="en-US" sz="1600" dirty="0"/>
          </a:p>
        </p:txBody>
      </p:sp>
      <p:sp>
        <p:nvSpPr>
          <p:cNvPr id="15" name="Panah 2"/>
          <p:cNvSpPr/>
          <p:nvPr/>
        </p:nvSpPr>
        <p:spPr>
          <a:xfrm>
            <a:off x="4480560" y="3489960"/>
            <a:ext cx="228600" cy="228600"/>
          </a:xfrm>
          <a:prstGeom prst="rightArrow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16" name="Text 8"/>
          <p:cNvSpPr txBox="1"/>
          <p:nvPr/>
        </p:nvSpPr>
        <p:spPr>
          <a:xfrm>
            <a:off x="4754880" y="31242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Aplikasi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Flask + Pandas</a:t>
            </a:r>
            <a:endParaRPr lang="en-US" sz="1600" dirty="0"/>
          </a:p>
        </p:txBody>
      </p:sp>
      <p:sp>
        <p:nvSpPr>
          <p:cNvPr id="17" name="Panah 3"/>
          <p:cNvSpPr/>
          <p:nvPr/>
        </p:nvSpPr>
        <p:spPr>
          <a:xfrm>
            <a:off x="6629400" y="3489960"/>
            <a:ext cx="228600" cy="228600"/>
          </a:xfrm>
          <a:prstGeom prst="rightArrow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6903720" y="31242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Database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SQLite (demo)</a:t>
            </a:r>
            <a:endParaRPr lang="en-US" sz="1600" dirty="0"/>
          </a:p>
        </p:txBody>
      </p:sp>
      <p:sp>
        <p:nvSpPr>
          <p:cNvPr id="26" name="Rounded Rectangle 25"/>
          <p:cNvSpPr/>
          <p:nvPr/>
        </p:nvSpPr>
        <p:spPr>
          <a:xfrm>
            <a:off x="4754880" y="2514600"/>
            <a:ext cx="3931920" cy="4572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184068" y="2558534"/>
            <a:ext cx="28906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 smtClean="0">
                <a:solidFill>
                  <a:srgbClr val="1F2A37"/>
                </a:solidFill>
              </a:rPr>
              <a:t>GitHub</a:t>
            </a:r>
            <a:r>
              <a:rPr lang="en-US" dirty="0" smtClean="0">
                <a:solidFill>
                  <a:srgbClr val="1F2A37"/>
                </a:solidFill>
              </a:rPr>
              <a:t>: </a:t>
            </a:r>
            <a:r>
              <a:rPr lang="en-US" dirty="0" err="1" smtClean="0">
                <a:solidFill>
                  <a:srgbClr val="1F2A37"/>
                </a:solidFill>
              </a:rPr>
              <a:t>kode</a:t>
            </a:r>
            <a:r>
              <a:rPr lang="en-US" dirty="0" smtClean="0">
                <a:solidFill>
                  <a:srgbClr val="1F2A37"/>
                </a:solidFill>
              </a:rPr>
              <a:t> </a:t>
            </a:r>
            <a:r>
              <a:rPr lang="en-US" dirty="0" err="1" smtClean="0">
                <a:solidFill>
                  <a:srgbClr val="1F2A37"/>
                </a:solidFill>
              </a:rPr>
              <a:t>dan</a:t>
            </a:r>
            <a:r>
              <a:rPr lang="en-US" dirty="0" smtClean="0">
                <a:solidFill>
                  <a:srgbClr val="1F2A37"/>
                </a:solidFill>
              </a:rPr>
              <a:t> data demo</a:t>
            </a:r>
            <a:endParaRPr lang="en-US" dirty="0"/>
          </a:p>
        </p:txBody>
      </p:sp>
      <p:sp>
        <p:nvSpPr>
          <p:cNvPr id="27" name="Text 2"/>
          <p:cNvSpPr txBox="1">
            <a:spLocks/>
          </p:cNvSpPr>
          <p:nvPr/>
        </p:nvSpPr>
        <p:spPr>
          <a:xfrm>
            <a:off x="3280410" y="4594860"/>
            <a:ext cx="26289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000" kern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 smtClean="0"/>
              <a:t>2. Akses tanpa login</a:t>
            </a:r>
            <a:endParaRPr lang="it-IT" dirty="0"/>
          </a:p>
        </p:txBody>
      </p:sp>
      <p:sp>
        <p:nvSpPr>
          <p:cNvPr id="28" name="Text 2"/>
          <p:cNvSpPr txBox="1">
            <a:spLocks/>
          </p:cNvSpPr>
          <p:nvPr/>
        </p:nvSpPr>
        <p:spPr>
          <a:xfrm>
            <a:off x="6078855" y="4594860"/>
            <a:ext cx="26289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000" kern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 smtClean="0"/>
              <a:t>3. Skrip dari CDN</a:t>
            </a:r>
            <a:endParaRPr lang="it-IT" dirty="0"/>
          </a:p>
        </p:txBody>
      </p:sp>
      <p:sp>
        <p:nvSpPr>
          <p:cNvPr id="29" name="Text 2"/>
          <p:cNvSpPr txBox="1">
            <a:spLocks/>
          </p:cNvSpPr>
          <p:nvPr/>
        </p:nvSpPr>
        <p:spPr>
          <a:xfrm>
            <a:off x="228600" y="5105400"/>
            <a:ext cx="26289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000" kern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 smtClean="0"/>
              <a:t>4. Repository publik</a:t>
            </a:r>
            <a:endParaRPr lang="it-IT" dirty="0"/>
          </a:p>
        </p:txBody>
      </p:sp>
      <p:sp>
        <p:nvSpPr>
          <p:cNvPr id="30" name="Text 2"/>
          <p:cNvSpPr txBox="1">
            <a:spLocks/>
          </p:cNvSpPr>
          <p:nvPr/>
        </p:nvSpPr>
        <p:spPr>
          <a:xfrm>
            <a:off x="3280409" y="5105400"/>
            <a:ext cx="327088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000" kern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 smtClean="0"/>
              <a:t>5. Konfigurasi dan kredensial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84166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/>
          </p:nvPr>
        </p:nvSpPr>
        <p:spPr>
          <a:xfrm>
            <a:off x="457200" y="1752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 err="1" smtClean="0">
                <a:solidFill>
                  <a:srgbClr val="FFFFFF"/>
                </a:solidFill>
              </a:rPr>
              <a:t>Ringkasan</a:t>
            </a:r>
            <a:r>
              <a:rPr lang="en-US" sz="3200" b="1" dirty="0" smtClean="0">
                <a:solidFill>
                  <a:srgbClr val="FFFFFF"/>
                </a:solidFill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</a:rPr>
              <a:t>delapan</a:t>
            </a:r>
            <a:r>
              <a:rPr lang="en-US" sz="3200" b="1" dirty="0" smtClean="0">
                <a:solidFill>
                  <a:srgbClr val="FFFFFF"/>
                </a:solidFill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</a:rPr>
              <a:t>temuan</a:t>
            </a:r>
            <a:r>
              <a:rPr lang="en-US" sz="3200" b="1" dirty="0" smtClean="0">
                <a:solidFill>
                  <a:srgbClr val="FFFFFF"/>
                </a:solidFill>
              </a:rPr>
              <a:t> </a:t>
            </a:r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228600"/>
            <a:ext cx="852311" cy="838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105"/>
            <a:ext cx="990600" cy="999187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328145"/>
              </p:ext>
            </p:extLst>
          </p:nvPr>
        </p:nvGraphicFramePr>
        <p:xfrm>
          <a:off x="457200" y="2514600"/>
          <a:ext cx="8229600" cy="3127248"/>
        </p:xfrm>
        <a:graphic>
          <a:graphicData uri="http://schemas.openxmlformats.org/drawingml/2006/table">
            <a:tbl>
              <a:tblPr/>
              <a:tblGrid>
                <a:gridCol w="457200"/>
                <a:gridCol w="3063240"/>
                <a:gridCol w="1920240"/>
                <a:gridCol w="914400"/>
                <a:gridCol w="187452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Temuan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 OWASP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Tingkat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tanpa autentikasi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A01 Access Control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1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Mitigasi tersedia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 keamanan HTTP belum 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A05 Misconfiguration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1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Diperbaiki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A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debug tertulis permanen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A05 Misconfiguration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1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Diperbaiki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Kredensial database bawaan lemah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A07 Authentication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1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Rekomendasi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A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Skrip CDN tanpa SRI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A08 Integrity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Rekomendasi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Tanpa pembatasan laju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A04 Insecure Design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Sebagian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A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demo di repositori publik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A01 Access Control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Sebagian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Dependensi belum diaudit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A06 Vulnerable Comp.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Rekomendasi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A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234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/>
          </p:nvPr>
        </p:nvSpPr>
        <p:spPr>
          <a:xfrm>
            <a:off x="457200" y="1752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 err="1" smtClean="0">
                <a:solidFill>
                  <a:srgbClr val="FFFFFF"/>
                </a:solidFill>
              </a:rPr>
              <a:t>Temuan</a:t>
            </a:r>
            <a:r>
              <a:rPr lang="en-US" sz="3200" b="1" dirty="0" smtClean="0">
                <a:solidFill>
                  <a:srgbClr val="FFFFFF"/>
                </a:solidFill>
              </a:rPr>
              <a:t> 1 </a:t>
            </a:r>
            <a:r>
              <a:rPr lang="en-US" sz="3200" b="1" dirty="0" err="1" smtClean="0">
                <a:solidFill>
                  <a:srgbClr val="FFFFFF"/>
                </a:solidFill>
              </a:rPr>
              <a:t>dan</a:t>
            </a:r>
            <a:r>
              <a:rPr lang="en-US" sz="3200" b="1" dirty="0" smtClean="0">
                <a:solidFill>
                  <a:srgbClr val="FFFFFF"/>
                </a:solidFill>
              </a:rPr>
              <a:t> 2 : </a:t>
            </a:r>
            <a:r>
              <a:rPr lang="en-US" sz="3200" b="1" dirty="0" err="1" smtClean="0">
                <a:solidFill>
                  <a:srgbClr val="FFFFFF"/>
                </a:solidFill>
              </a:rPr>
              <a:t>akses</a:t>
            </a:r>
            <a:r>
              <a:rPr lang="en-US" sz="3200" b="1" dirty="0" smtClean="0">
                <a:solidFill>
                  <a:srgbClr val="FFFFFF"/>
                </a:solidFill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</a:rPr>
              <a:t>dan</a:t>
            </a:r>
            <a:r>
              <a:rPr lang="en-US" sz="3200" b="1" dirty="0" smtClean="0">
                <a:solidFill>
                  <a:srgbClr val="FFFFFF"/>
                </a:solidFill>
              </a:rPr>
              <a:t> header</a:t>
            </a:r>
            <a:endParaRPr lang="en-US" sz="3200" dirty="0"/>
          </a:p>
        </p:txBody>
      </p:sp>
      <p:sp>
        <p:nvSpPr>
          <p:cNvPr id="3" name="Text 2"/>
          <p:cNvSpPr>
            <a:spLocks noGrp="1"/>
          </p:cNvSpPr>
          <p:nvPr>
            <p:ph type="body" idx="105"/>
          </p:nvPr>
        </p:nvSpPr>
        <p:spPr>
          <a:xfrm>
            <a:off x="485774" y="2651760"/>
            <a:ext cx="3324225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Dashboard </a:t>
            </a:r>
            <a:r>
              <a:rPr lang="en-US" sz="2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terbuka</a:t>
            </a:r>
            <a:r>
              <a:rPr lang="en-US" sz="2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</a:t>
            </a:r>
            <a:r>
              <a:rPr lang="en-US" sz="2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</a:t>
            </a:r>
            <a:r>
              <a:rPr lang="en-US" sz="2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00450"/>
            <a:ext cx="381000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600" b="1" dirty="0" err="1" smtClean="0">
                <a:solidFill>
                  <a:schemeClr val="bg1"/>
                </a:solidFill>
              </a:rPr>
              <a:t>Bukti</a:t>
            </a:r>
            <a:r>
              <a:rPr lang="en-US" sz="1600" b="1" dirty="0" smtClean="0">
                <a:solidFill>
                  <a:schemeClr val="bg1"/>
                </a:solidFill>
              </a:rPr>
              <a:t>: </a:t>
            </a:r>
            <a:r>
              <a:rPr lang="en-US" sz="1600" dirty="0" smtClean="0">
                <a:solidFill>
                  <a:schemeClr val="bg1"/>
                </a:solidFill>
              </a:rPr>
              <a:t>GET / </a:t>
            </a:r>
            <a:r>
              <a:rPr lang="en-US" sz="1600" dirty="0" err="1" smtClean="0">
                <a:solidFill>
                  <a:schemeClr val="bg1"/>
                </a:solidFill>
              </a:rPr>
              <a:t>tanpa</a:t>
            </a:r>
            <a:r>
              <a:rPr lang="en-US" sz="1600" dirty="0" smtClean="0">
                <a:solidFill>
                  <a:schemeClr val="bg1"/>
                </a:solidFill>
              </a:rPr>
              <a:t> login </a:t>
            </a:r>
            <a:r>
              <a:rPr lang="en-US" sz="1600" dirty="0" err="1" smtClean="0">
                <a:solidFill>
                  <a:schemeClr val="bg1"/>
                </a:solidFill>
              </a:rPr>
              <a:t>mengembalikan</a:t>
            </a:r>
            <a:r>
              <a:rPr lang="en-US" sz="1600" dirty="0" smtClean="0">
                <a:solidFill>
                  <a:schemeClr val="bg1"/>
                </a:solidFill>
              </a:rPr>
              <a:t> HTTP 200 </a:t>
            </a:r>
            <a:r>
              <a:rPr lang="en-US" sz="1600" dirty="0" err="1" smtClean="0">
                <a:solidFill>
                  <a:schemeClr val="bg1"/>
                </a:solidFill>
              </a:rPr>
              <a:t>dan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menampilkan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omzet</a:t>
            </a:r>
            <a:r>
              <a:rPr lang="en-US" sz="1600" dirty="0" smtClean="0">
                <a:solidFill>
                  <a:schemeClr val="bg1"/>
                </a:solidFill>
              </a:rPr>
              <a:t> Rp306,9 </a:t>
            </a:r>
            <a:r>
              <a:rPr lang="en-US" sz="1600" dirty="0" err="1" smtClean="0">
                <a:solidFill>
                  <a:schemeClr val="bg1"/>
                </a:solidFill>
              </a:rPr>
              <a:t>juta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US" sz="1600" b="1" dirty="0" err="1" smtClean="0">
                <a:solidFill>
                  <a:schemeClr val="bg1"/>
                </a:solidFill>
              </a:rPr>
              <a:t>Dampak</a:t>
            </a:r>
            <a:r>
              <a:rPr lang="en-US" sz="1600" b="1" dirty="0" smtClean="0">
                <a:solidFill>
                  <a:schemeClr val="bg1"/>
                </a:solidFill>
              </a:rPr>
              <a:t>: </a:t>
            </a:r>
            <a:r>
              <a:rPr lang="en-US" sz="1600" dirty="0" err="1" smtClean="0">
                <a:solidFill>
                  <a:schemeClr val="bg1"/>
                </a:solidFill>
              </a:rPr>
              <a:t>Siapa</a:t>
            </a:r>
            <a:r>
              <a:rPr lang="en-US" sz="1600" dirty="0" smtClean="0">
                <a:solidFill>
                  <a:schemeClr val="bg1"/>
                </a:solidFill>
              </a:rPr>
              <a:t> pun </a:t>
            </a:r>
            <a:r>
              <a:rPr lang="en-US" sz="1600" dirty="0" err="1" smtClean="0">
                <a:solidFill>
                  <a:schemeClr val="bg1"/>
                </a:solidFill>
              </a:rPr>
              <a:t>dengan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tautan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dapat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melihat</a:t>
            </a:r>
            <a:r>
              <a:rPr lang="en-US" sz="1600" dirty="0" smtClean="0">
                <a:solidFill>
                  <a:schemeClr val="bg1"/>
                </a:solidFill>
              </a:rPr>
              <a:t> data </a:t>
            </a:r>
            <a:r>
              <a:rPr lang="en-US" sz="1600" dirty="0" err="1" smtClean="0">
                <a:solidFill>
                  <a:schemeClr val="bg1"/>
                </a:solidFill>
              </a:rPr>
              <a:t>penjualan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dan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stok</a:t>
            </a:r>
            <a:r>
              <a:rPr lang="en-US" sz="1600" dirty="0" smtClean="0">
                <a:solidFill>
                  <a:schemeClr val="bg1"/>
                </a:solidFill>
              </a:rPr>
              <a:t>; </a:t>
            </a:r>
            <a:r>
              <a:rPr lang="en-US" sz="1600" dirty="0" err="1" smtClean="0">
                <a:solidFill>
                  <a:schemeClr val="bg1"/>
                </a:solidFill>
              </a:rPr>
              <a:t>pada</a:t>
            </a:r>
            <a:r>
              <a:rPr lang="en-US" sz="1600" dirty="0" smtClean="0">
                <a:solidFill>
                  <a:schemeClr val="bg1"/>
                </a:solidFill>
              </a:rPr>
              <a:t> data </a:t>
            </a:r>
            <a:r>
              <a:rPr lang="en-US" sz="1600" dirty="0" err="1" smtClean="0">
                <a:solidFill>
                  <a:schemeClr val="bg1"/>
                </a:solidFill>
              </a:rPr>
              <a:t>riil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menjadi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kebocoran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informasi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bisnis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228600"/>
            <a:ext cx="852311" cy="838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105"/>
            <a:ext cx="990600" cy="999187"/>
          </a:xfrm>
          <a:prstGeom prst="rect">
            <a:avLst/>
          </a:prstGeom>
        </p:spPr>
      </p:pic>
      <p:sp>
        <p:nvSpPr>
          <p:cNvPr id="9" name="Text 2"/>
          <p:cNvSpPr txBox="1">
            <a:spLocks/>
          </p:cNvSpPr>
          <p:nvPr/>
        </p:nvSpPr>
        <p:spPr>
          <a:xfrm>
            <a:off x="5257800" y="2730815"/>
            <a:ext cx="2514600" cy="8696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000" kern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2. Header </a:t>
            </a:r>
            <a:r>
              <a:rPr lang="en-US" dirty="0" err="1" smtClean="0"/>
              <a:t>keamanan</a:t>
            </a:r>
            <a:r>
              <a:rPr lang="en-US" dirty="0" smtClean="0"/>
              <a:t> HTTP </a:t>
            </a:r>
            <a:r>
              <a:rPr lang="en-US" dirty="0" err="1" smtClean="0"/>
              <a:t>belum</a:t>
            </a:r>
            <a:r>
              <a:rPr lang="en-US" dirty="0" smtClean="0"/>
              <a:t>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0" name="Text 2"/>
          <p:cNvSpPr txBox="1"/>
          <p:nvPr/>
        </p:nvSpPr>
        <p:spPr>
          <a:xfrm>
            <a:off x="5257800" y="3600450"/>
            <a:ext cx="34290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600" b="1" dirty="0" err="1" smtClean="0">
                <a:solidFill>
                  <a:schemeClr val="bg1"/>
                </a:solidFill>
              </a:rPr>
              <a:t>Bukti</a:t>
            </a:r>
            <a:r>
              <a:rPr lang="en-US" sz="1600" b="1" dirty="0" smtClean="0">
                <a:solidFill>
                  <a:schemeClr val="bg1"/>
                </a:solidFill>
              </a:rPr>
              <a:t>: </a:t>
            </a:r>
            <a:r>
              <a:rPr lang="en-US" sz="1600" dirty="0" smtClean="0">
                <a:solidFill>
                  <a:schemeClr val="bg1"/>
                </a:solidFill>
              </a:rPr>
              <a:t>0 </a:t>
            </a:r>
            <a:r>
              <a:rPr lang="en-US" sz="1600" dirty="0" err="1" smtClean="0">
                <a:solidFill>
                  <a:schemeClr val="bg1"/>
                </a:solidFill>
              </a:rPr>
              <a:t>dari</a:t>
            </a:r>
            <a:r>
              <a:rPr lang="en-US" sz="1600" dirty="0" smtClean="0">
                <a:solidFill>
                  <a:schemeClr val="bg1"/>
                </a:solidFill>
              </a:rPr>
              <a:t> 6 header yang </a:t>
            </a:r>
            <a:r>
              <a:rPr lang="en-US" sz="1600" dirty="0" err="1" smtClean="0">
                <a:solidFill>
                  <a:schemeClr val="bg1"/>
                </a:solidFill>
              </a:rPr>
              <a:t>diperiksa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terpasang</a:t>
            </a:r>
            <a:r>
              <a:rPr lang="en-US" sz="1600" dirty="0" smtClean="0">
                <a:solidFill>
                  <a:schemeClr val="bg1"/>
                </a:solidFill>
              </a:rPr>
              <a:t> (CSP, X-Frame-Options, </a:t>
            </a:r>
            <a:r>
              <a:rPr lang="en-US" sz="1600" dirty="0" err="1" smtClean="0">
                <a:solidFill>
                  <a:schemeClr val="bg1"/>
                </a:solidFill>
              </a:rPr>
              <a:t>nosniff</a:t>
            </a:r>
            <a:r>
              <a:rPr lang="en-US" sz="1600" dirty="0" smtClean="0">
                <a:solidFill>
                  <a:schemeClr val="bg1"/>
                </a:solidFill>
              </a:rPr>
              <a:t>, HSTS, </a:t>
            </a:r>
            <a:r>
              <a:rPr lang="en-US" sz="1600" dirty="0" err="1" smtClean="0">
                <a:solidFill>
                  <a:schemeClr val="bg1"/>
                </a:solidFill>
              </a:rPr>
              <a:t>dan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lainnya</a:t>
            </a:r>
            <a:r>
              <a:rPr lang="en-US" sz="1600" dirty="0" smtClean="0">
                <a:solidFill>
                  <a:schemeClr val="bg1"/>
                </a:solidFill>
              </a:rPr>
              <a:t>).</a:t>
            </a:r>
          </a:p>
          <a:p>
            <a:pPr>
              <a:spcAft>
                <a:spcPts val="800"/>
              </a:spcAft>
            </a:pPr>
            <a:r>
              <a:rPr lang="en-US" sz="1600" b="1" dirty="0" err="1" smtClean="0">
                <a:solidFill>
                  <a:schemeClr val="bg1"/>
                </a:solidFill>
              </a:rPr>
              <a:t>Dampak</a:t>
            </a:r>
            <a:r>
              <a:rPr lang="en-US" sz="1600" b="1" dirty="0" smtClean="0">
                <a:solidFill>
                  <a:schemeClr val="bg1"/>
                </a:solidFill>
              </a:rPr>
              <a:t>: </a:t>
            </a:r>
            <a:r>
              <a:rPr lang="en-US" sz="1600" dirty="0" err="1" smtClean="0">
                <a:solidFill>
                  <a:schemeClr val="bg1"/>
                </a:solidFill>
              </a:rPr>
              <a:t>Halaman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dapat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disematkan</a:t>
            </a:r>
            <a:r>
              <a:rPr lang="en-US" sz="1600" dirty="0" smtClean="0">
                <a:solidFill>
                  <a:schemeClr val="bg1"/>
                </a:solidFill>
              </a:rPr>
              <a:t> di </a:t>
            </a:r>
            <a:r>
              <a:rPr lang="en-US" sz="1600" dirty="0" err="1" smtClean="0">
                <a:solidFill>
                  <a:schemeClr val="bg1"/>
                </a:solidFill>
              </a:rPr>
              <a:t>situs</a:t>
            </a:r>
            <a:r>
              <a:rPr lang="en-US" sz="1600" dirty="0" smtClean="0">
                <a:solidFill>
                  <a:schemeClr val="bg1"/>
                </a:solidFill>
              </a:rPr>
              <a:t> lain (</a:t>
            </a:r>
            <a:r>
              <a:rPr lang="en-US" sz="1600" dirty="0" err="1" smtClean="0">
                <a:solidFill>
                  <a:schemeClr val="bg1"/>
                </a:solidFill>
              </a:rPr>
              <a:t>clickjacking</a:t>
            </a:r>
            <a:r>
              <a:rPr lang="en-US" sz="1600" dirty="0" smtClean="0">
                <a:solidFill>
                  <a:schemeClr val="bg1"/>
                </a:solidFill>
              </a:rPr>
              <a:t>) </a:t>
            </a:r>
            <a:r>
              <a:rPr lang="en-US" sz="1600" dirty="0" err="1" smtClean="0">
                <a:solidFill>
                  <a:schemeClr val="bg1"/>
                </a:solidFill>
              </a:rPr>
              <a:t>dan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tidak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ada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batasan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sumber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skrip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43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/>
          </p:nvPr>
        </p:nvSpPr>
        <p:spPr>
          <a:xfrm>
            <a:off x="457200" y="1752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 err="1" smtClean="0">
                <a:solidFill>
                  <a:srgbClr val="FFFFFF"/>
                </a:solidFill>
              </a:rPr>
              <a:t>Temuan</a:t>
            </a:r>
            <a:r>
              <a:rPr lang="en-US" sz="3200" b="1" dirty="0" smtClean="0">
                <a:solidFill>
                  <a:srgbClr val="FFFFFF"/>
                </a:solidFill>
              </a:rPr>
              <a:t> 3 </a:t>
            </a:r>
            <a:r>
              <a:rPr lang="en-US" sz="3200" b="1" dirty="0" err="1" smtClean="0">
                <a:solidFill>
                  <a:srgbClr val="FFFFFF"/>
                </a:solidFill>
              </a:rPr>
              <a:t>dan</a:t>
            </a:r>
            <a:r>
              <a:rPr lang="en-US" sz="3200" b="1" dirty="0" smtClean="0">
                <a:solidFill>
                  <a:srgbClr val="FFFFFF"/>
                </a:solidFill>
              </a:rPr>
              <a:t> 4 : </a:t>
            </a:r>
            <a:r>
              <a:rPr lang="en-US" sz="3200" b="1" dirty="0" err="1" smtClean="0">
                <a:solidFill>
                  <a:srgbClr val="FFFFFF"/>
                </a:solidFill>
              </a:rPr>
              <a:t>konfigurasi</a:t>
            </a:r>
            <a:endParaRPr lang="en-US" sz="3200" dirty="0"/>
          </a:p>
        </p:txBody>
      </p:sp>
      <p:sp>
        <p:nvSpPr>
          <p:cNvPr id="3" name="Text 2"/>
          <p:cNvSpPr>
            <a:spLocks noGrp="1"/>
          </p:cNvSpPr>
          <p:nvPr>
            <p:ph type="body" idx="105"/>
          </p:nvPr>
        </p:nvSpPr>
        <p:spPr>
          <a:xfrm>
            <a:off x="485774" y="2651760"/>
            <a:ext cx="3324225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dirty="0" smtClean="0"/>
              <a:t>3. Mode debug </a:t>
            </a:r>
            <a:r>
              <a:rPr lang="en-US" dirty="0" err="1" smtClean="0"/>
              <a:t>tertulis</a:t>
            </a:r>
            <a:r>
              <a:rPr lang="en-US" dirty="0" smtClean="0"/>
              <a:t> </a:t>
            </a:r>
            <a:r>
              <a:rPr lang="en-US" dirty="0" err="1" smtClean="0"/>
              <a:t>permanen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00450"/>
            <a:ext cx="381000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600" b="1" dirty="0" err="1" smtClean="0">
                <a:solidFill>
                  <a:schemeClr val="bg1"/>
                </a:solidFill>
              </a:rPr>
              <a:t>Bukti</a:t>
            </a:r>
            <a:r>
              <a:rPr lang="en-US" sz="1600" b="1" dirty="0" smtClean="0">
                <a:solidFill>
                  <a:schemeClr val="bg1"/>
                </a:solidFill>
              </a:rPr>
              <a:t>: </a:t>
            </a:r>
            <a:r>
              <a:rPr lang="en-US" sz="1600" dirty="0" err="1" smtClean="0">
                <a:solidFill>
                  <a:schemeClr val="bg1"/>
                </a:solidFill>
              </a:rPr>
              <a:t>app.run</a:t>
            </a:r>
            <a:r>
              <a:rPr lang="en-US" sz="1600" dirty="0" smtClean="0">
                <a:solidFill>
                  <a:schemeClr val="bg1"/>
                </a:solidFill>
              </a:rPr>
              <a:t>(debug=True) </a:t>
            </a:r>
            <a:r>
              <a:rPr lang="en-US" sz="1600" dirty="0" err="1" smtClean="0">
                <a:solidFill>
                  <a:schemeClr val="bg1"/>
                </a:solidFill>
              </a:rPr>
              <a:t>pada</a:t>
            </a:r>
            <a:r>
              <a:rPr lang="en-US" sz="1600" dirty="0" smtClean="0">
                <a:solidFill>
                  <a:schemeClr val="bg1"/>
                </a:solidFill>
              </a:rPr>
              <a:t> app.py; </a:t>
            </a:r>
            <a:r>
              <a:rPr lang="en-US" sz="1600" dirty="0" err="1" smtClean="0">
                <a:solidFill>
                  <a:schemeClr val="bg1"/>
                </a:solidFill>
              </a:rPr>
              <a:t>pada</a:t>
            </a:r>
            <a:r>
              <a:rPr lang="en-US" sz="1600" dirty="0" smtClean="0">
                <a:solidFill>
                  <a:schemeClr val="bg1"/>
                </a:solidFill>
              </a:rPr>
              <a:t> mode hosting WSGI </a:t>
            </a:r>
            <a:r>
              <a:rPr lang="en-US" sz="1600" dirty="0" err="1" smtClean="0">
                <a:solidFill>
                  <a:schemeClr val="bg1"/>
                </a:solidFill>
              </a:rPr>
              <a:t>diuji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app.debug</a:t>
            </a:r>
            <a:r>
              <a:rPr lang="en-US" sz="1600" dirty="0" smtClean="0">
                <a:solidFill>
                  <a:schemeClr val="bg1"/>
                </a:solidFill>
              </a:rPr>
              <a:t> = False.</a:t>
            </a:r>
          </a:p>
          <a:p>
            <a:pPr>
              <a:spcAft>
                <a:spcPts val="800"/>
              </a:spcAft>
            </a:pPr>
            <a:r>
              <a:rPr lang="en-US" sz="1600" b="1" dirty="0" err="1" smtClean="0">
                <a:solidFill>
                  <a:schemeClr val="bg1"/>
                </a:solidFill>
              </a:rPr>
              <a:t>Dampak</a:t>
            </a:r>
            <a:r>
              <a:rPr lang="en-US" sz="1600" b="1" dirty="0" smtClean="0">
                <a:solidFill>
                  <a:schemeClr val="bg1"/>
                </a:solidFill>
              </a:rPr>
              <a:t>: </a:t>
            </a:r>
            <a:r>
              <a:rPr lang="en-US" sz="1600" dirty="0" err="1" smtClean="0">
                <a:solidFill>
                  <a:schemeClr val="bg1"/>
                </a:solidFill>
              </a:rPr>
              <a:t>Bila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dijalankan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langsung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dan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terjangkau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jaringan</a:t>
            </a:r>
            <a:r>
              <a:rPr lang="en-US" sz="1600" dirty="0" smtClean="0">
                <a:solidFill>
                  <a:schemeClr val="bg1"/>
                </a:solidFill>
              </a:rPr>
              <a:t>, debugger </a:t>
            </a:r>
            <a:r>
              <a:rPr lang="en-US" sz="1600" dirty="0" err="1" smtClean="0">
                <a:solidFill>
                  <a:schemeClr val="bg1"/>
                </a:solidFill>
              </a:rPr>
              <a:t>dapat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mengeksekusi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kode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dari</a:t>
            </a:r>
            <a:r>
              <a:rPr lang="en-US" sz="1600" dirty="0" smtClean="0">
                <a:solidFill>
                  <a:schemeClr val="bg1"/>
                </a:solidFill>
              </a:rPr>
              <a:t> browser. </a:t>
            </a:r>
            <a:r>
              <a:rPr lang="en-US" sz="1600" dirty="0" err="1" smtClean="0">
                <a:solidFill>
                  <a:schemeClr val="bg1"/>
                </a:solidFill>
              </a:rPr>
              <a:t>Risiko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laten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228600"/>
            <a:ext cx="852311" cy="838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105"/>
            <a:ext cx="990600" cy="999187"/>
          </a:xfrm>
          <a:prstGeom prst="rect">
            <a:avLst/>
          </a:prstGeom>
        </p:spPr>
      </p:pic>
      <p:sp>
        <p:nvSpPr>
          <p:cNvPr id="9" name="Text 2"/>
          <p:cNvSpPr txBox="1">
            <a:spLocks/>
          </p:cNvSpPr>
          <p:nvPr/>
        </p:nvSpPr>
        <p:spPr>
          <a:xfrm>
            <a:off x="5257800" y="2730815"/>
            <a:ext cx="2514600" cy="8696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000" kern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4. </a:t>
            </a:r>
            <a:r>
              <a:rPr lang="en-US" dirty="0" err="1" smtClean="0"/>
              <a:t>Kredensial</a:t>
            </a:r>
            <a:r>
              <a:rPr lang="en-US" dirty="0" smtClean="0"/>
              <a:t> database </a:t>
            </a:r>
            <a:r>
              <a:rPr lang="en-US" dirty="0" err="1" smtClean="0"/>
              <a:t>bawaan</a:t>
            </a:r>
            <a:r>
              <a:rPr lang="en-US" dirty="0" smtClean="0"/>
              <a:t> </a:t>
            </a:r>
            <a:r>
              <a:rPr lang="en-US" dirty="0" err="1" smtClean="0"/>
              <a:t>lemah</a:t>
            </a:r>
            <a:endParaRPr lang="en-US" dirty="0"/>
          </a:p>
        </p:txBody>
      </p:sp>
      <p:sp>
        <p:nvSpPr>
          <p:cNvPr id="10" name="Text 2"/>
          <p:cNvSpPr txBox="1"/>
          <p:nvPr/>
        </p:nvSpPr>
        <p:spPr>
          <a:xfrm>
            <a:off x="5257800" y="3600450"/>
            <a:ext cx="34290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600" b="1" dirty="0" err="1" smtClean="0">
                <a:solidFill>
                  <a:schemeClr val="bg1"/>
                </a:solidFill>
              </a:rPr>
              <a:t>Bukti</a:t>
            </a:r>
            <a:r>
              <a:rPr lang="en-US" sz="1600" b="1" dirty="0" smtClean="0">
                <a:solidFill>
                  <a:schemeClr val="bg1"/>
                </a:solidFill>
              </a:rPr>
              <a:t>: </a:t>
            </a:r>
            <a:r>
              <a:rPr lang="en-US" sz="1600" dirty="0" smtClean="0">
                <a:solidFill>
                  <a:schemeClr val="bg1"/>
                </a:solidFill>
              </a:rPr>
              <a:t>config.py </a:t>
            </a:r>
            <a:r>
              <a:rPr lang="en-US" sz="1600" dirty="0" err="1" smtClean="0">
                <a:solidFill>
                  <a:schemeClr val="bg1"/>
                </a:solidFill>
              </a:rPr>
              <a:t>memakai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pengguna</a:t>
            </a:r>
            <a:r>
              <a:rPr lang="en-US" sz="1600" dirty="0" smtClean="0">
                <a:solidFill>
                  <a:schemeClr val="bg1"/>
                </a:solidFill>
              </a:rPr>
              <a:t> root </a:t>
            </a:r>
            <a:r>
              <a:rPr lang="en-US" sz="1600" dirty="0" err="1" smtClean="0">
                <a:solidFill>
                  <a:schemeClr val="bg1"/>
                </a:solidFill>
              </a:rPr>
              <a:t>dengan</a:t>
            </a:r>
            <a:r>
              <a:rPr lang="en-US" sz="1600" dirty="0" smtClean="0">
                <a:solidFill>
                  <a:schemeClr val="bg1"/>
                </a:solidFill>
              </a:rPr>
              <a:t> kata </a:t>
            </a:r>
            <a:r>
              <a:rPr lang="en-US" sz="1600" dirty="0" err="1" smtClean="0">
                <a:solidFill>
                  <a:schemeClr val="bg1"/>
                </a:solidFill>
              </a:rPr>
              <a:t>sandi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kosong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sebagai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nilai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bawaan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US" sz="1600" b="1" dirty="0" err="1" smtClean="0">
                <a:solidFill>
                  <a:schemeClr val="bg1"/>
                </a:solidFill>
              </a:rPr>
              <a:t>Dampak</a:t>
            </a:r>
            <a:r>
              <a:rPr lang="en-US" sz="1600" b="1" dirty="0" smtClean="0">
                <a:solidFill>
                  <a:schemeClr val="bg1"/>
                </a:solidFill>
              </a:rPr>
              <a:t>: </a:t>
            </a:r>
            <a:r>
              <a:rPr lang="en-US" sz="1600" dirty="0" err="1" smtClean="0">
                <a:solidFill>
                  <a:schemeClr val="bg1"/>
                </a:solidFill>
              </a:rPr>
              <a:t>Jika</a:t>
            </a:r>
            <a:r>
              <a:rPr lang="en-US" sz="1600" dirty="0" smtClean="0">
                <a:solidFill>
                  <a:schemeClr val="bg1"/>
                </a:solidFill>
              </a:rPr>
              <a:t> MySQL </a:t>
            </a:r>
            <a:r>
              <a:rPr lang="en-US" sz="1600" dirty="0" err="1" smtClean="0">
                <a:solidFill>
                  <a:schemeClr val="bg1"/>
                </a:solidFill>
              </a:rPr>
              <a:t>terjangkau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jaringan</a:t>
            </a:r>
            <a:r>
              <a:rPr lang="en-US" sz="1600" dirty="0" smtClean="0">
                <a:solidFill>
                  <a:schemeClr val="bg1"/>
                </a:solidFill>
              </a:rPr>
              <a:t>, </a:t>
            </a:r>
            <a:r>
              <a:rPr lang="en-US" sz="1600" dirty="0" err="1" smtClean="0">
                <a:solidFill>
                  <a:schemeClr val="bg1"/>
                </a:solidFill>
              </a:rPr>
              <a:t>seluruh</a:t>
            </a:r>
            <a:r>
              <a:rPr lang="en-US" sz="1600" dirty="0" smtClean="0">
                <a:solidFill>
                  <a:schemeClr val="bg1"/>
                </a:solidFill>
              </a:rPr>
              <a:t> database </a:t>
            </a:r>
            <a:r>
              <a:rPr lang="en-US" sz="1600" dirty="0" err="1" smtClean="0">
                <a:solidFill>
                  <a:schemeClr val="bg1"/>
                </a:solidFill>
              </a:rPr>
              <a:t>dapat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diakses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tanpa</a:t>
            </a:r>
            <a:r>
              <a:rPr lang="en-US" sz="1600" dirty="0" smtClean="0">
                <a:solidFill>
                  <a:schemeClr val="bg1"/>
                </a:solidFill>
              </a:rPr>
              <a:t> kata </a:t>
            </a:r>
            <a:r>
              <a:rPr lang="en-US" sz="1600" dirty="0" err="1" smtClean="0">
                <a:solidFill>
                  <a:schemeClr val="bg1"/>
                </a:solidFill>
              </a:rPr>
              <a:t>sandi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269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/>
          </p:nvPr>
        </p:nvSpPr>
        <p:spPr>
          <a:xfrm>
            <a:off x="457200" y="1752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 err="1" smtClean="0">
                <a:solidFill>
                  <a:srgbClr val="FFFFFF"/>
                </a:solidFill>
              </a:rPr>
              <a:t>Temuan</a:t>
            </a:r>
            <a:r>
              <a:rPr lang="en-US" sz="3200" b="1" dirty="0" smtClean="0">
                <a:solidFill>
                  <a:srgbClr val="FFFFFF"/>
                </a:solidFill>
              </a:rPr>
              <a:t> 5 </a:t>
            </a:r>
            <a:r>
              <a:rPr lang="en-US" sz="3200" b="1" dirty="0" err="1" smtClean="0">
                <a:solidFill>
                  <a:srgbClr val="FFFFFF"/>
                </a:solidFill>
              </a:rPr>
              <a:t>dan</a:t>
            </a:r>
            <a:r>
              <a:rPr lang="en-US" sz="3200" b="1" dirty="0" smtClean="0">
                <a:solidFill>
                  <a:srgbClr val="FFFFFF"/>
                </a:solidFill>
              </a:rPr>
              <a:t> 6 : </a:t>
            </a:r>
            <a:r>
              <a:rPr lang="en-US" sz="3200" b="1" dirty="0" err="1" smtClean="0">
                <a:solidFill>
                  <a:srgbClr val="FFFFFF"/>
                </a:solidFill>
              </a:rPr>
              <a:t>rantai</a:t>
            </a:r>
            <a:r>
              <a:rPr lang="en-US" sz="3200" b="1" dirty="0" smtClean="0">
                <a:solidFill>
                  <a:srgbClr val="FFFFFF"/>
                </a:solidFill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</a:rPr>
              <a:t>pasok</a:t>
            </a:r>
            <a:r>
              <a:rPr lang="en-US" sz="3200" b="1" dirty="0" smtClean="0">
                <a:solidFill>
                  <a:srgbClr val="FFFFFF"/>
                </a:solidFill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</a:rPr>
              <a:t>dan</a:t>
            </a:r>
            <a:r>
              <a:rPr lang="en-US" sz="3200" b="1" dirty="0" smtClean="0">
                <a:solidFill>
                  <a:srgbClr val="FFFFFF"/>
                </a:solidFill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</a:rPr>
              <a:t>beban</a:t>
            </a:r>
            <a:endParaRPr lang="en-US" sz="3200" dirty="0"/>
          </a:p>
        </p:txBody>
      </p:sp>
      <p:sp>
        <p:nvSpPr>
          <p:cNvPr id="3" name="Text 2"/>
          <p:cNvSpPr>
            <a:spLocks noGrp="1"/>
          </p:cNvSpPr>
          <p:nvPr>
            <p:ph type="body" idx="105"/>
          </p:nvPr>
        </p:nvSpPr>
        <p:spPr>
          <a:xfrm>
            <a:off x="485774" y="2651760"/>
            <a:ext cx="3324225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dirty="0" smtClean="0"/>
              <a:t>5. </a:t>
            </a:r>
            <a:r>
              <a:rPr lang="en-US" dirty="0" err="1" smtClean="0"/>
              <a:t>Skrip</a:t>
            </a:r>
            <a:r>
              <a:rPr lang="en-US" dirty="0" smtClean="0"/>
              <a:t> CDN </a:t>
            </a:r>
            <a:r>
              <a:rPr lang="en-US" dirty="0" err="1" smtClean="0"/>
              <a:t>tanpa</a:t>
            </a:r>
            <a:r>
              <a:rPr lang="en-US" dirty="0" smtClean="0"/>
              <a:t> SRI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00450"/>
            <a:ext cx="381000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600" b="1" dirty="0" err="1" smtClean="0">
                <a:solidFill>
                  <a:schemeClr val="bg1"/>
                </a:solidFill>
              </a:rPr>
              <a:t>Bukti</a:t>
            </a:r>
            <a:r>
              <a:rPr lang="en-US" sz="1600" b="1" dirty="0" smtClean="0">
                <a:solidFill>
                  <a:schemeClr val="bg1"/>
                </a:solidFill>
              </a:rPr>
              <a:t>: </a:t>
            </a:r>
            <a:r>
              <a:rPr lang="en-US" sz="1600" dirty="0" smtClean="0">
                <a:solidFill>
                  <a:schemeClr val="bg1"/>
                </a:solidFill>
              </a:rPr>
              <a:t>Bootstrap </a:t>
            </a:r>
            <a:r>
              <a:rPr lang="en-US" sz="1600" dirty="0" err="1" smtClean="0">
                <a:solidFill>
                  <a:schemeClr val="bg1"/>
                </a:solidFill>
              </a:rPr>
              <a:t>dan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Plotly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dimuat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dari</a:t>
            </a:r>
            <a:r>
              <a:rPr lang="en-US" sz="1600" dirty="0" smtClean="0">
                <a:solidFill>
                  <a:schemeClr val="bg1"/>
                </a:solidFill>
              </a:rPr>
              <a:t> CDN </a:t>
            </a:r>
            <a:r>
              <a:rPr lang="en-US" sz="1600" dirty="0" err="1" smtClean="0">
                <a:solidFill>
                  <a:schemeClr val="bg1"/>
                </a:solidFill>
              </a:rPr>
              <a:t>tanpa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atribut</a:t>
            </a:r>
            <a:r>
              <a:rPr lang="en-US" sz="1600" dirty="0" smtClean="0">
                <a:solidFill>
                  <a:schemeClr val="bg1"/>
                </a:solidFill>
              </a:rPr>
              <a:t> integrity.</a:t>
            </a:r>
          </a:p>
          <a:p>
            <a:pPr>
              <a:spcAft>
                <a:spcPts val="800"/>
              </a:spcAft>
            </a:pPr>
            <a:r>
              <a:rPr lang="en-US" sz="1600" b="1" dirty="0" err="1" smtClean="0">
                <a:solidFill>
                  <a:schemeClr val="bg1"/>
                </a:solidFill>
              </a:rPr>
              <a:t>Dampak</a:t>
            </a:r>
            <a:r>
              <a:rPr lang="en-US" sz="1600" b="1" dirty="0" smtClean="0">
                <a:solidFill>
                  <a:schemeClr val="bg1"/>
                </a:solidFill>
              </a:rPr>
              <a:t>: </a:t>
            </a:r>
            <a:r>
              <a:rPr lang="en-US" sz="1600" dirty="0" err="1" smtClean="0">
                <a:solidFill>
                  <a:schemeClr val="bg1"/>
                </a:solidFill>
              </a:rPr>
              <a:t>Jika</a:t>
            </a:r>
            <a:r>
              <a:rPr lang="en-US" sz="1600" dirty="0" smtClean="0">
                <a:solidFill>
                  <a:schemeClr val="bg1"/>
                </a:solidFill>
              </a:rPr>
              <a:t> CDN </a:t>
            </a:r>
            <a:r>
              <a:rPr lang="en-US" sz="1600" dirty="0" err="1" smtClean="0">
                <a:solidFill>
                  <a:schemeClr val="bg1"/>
                </a:solidFill>
              </a:rPr>
              <a:t>dikompromikan</a:t>
            </a:r>
            <a:r>
              <a:rPr lang="en-US" sz="1600" dirty="0" smtClean="0">
                <a:solidFill>
                  <a:schemeClr val="bg1"/>
                </a:solidFill>
              </a:rPr>
              <a:t>, </a:t>
            </a:r>
            <a:r>
              <a:rPr lang="en-US" sz="1600" dirty="0" err="1" smtClean="0">
                <a:solidFill>
                  <a:schemeClr val="bg1"/>
                </a:solidFill>
              </a:rPr>
              <a:t>skrip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berbahaya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berjalan</a:t>
            </a:r>
            <a:r>
              <a:rPr lang="en-US" sz="1600" dirty="0" smtClean="0">
                <a:solidFill>
                  <a:schemeClr val="bg1"/>
                </a:solidFill>
              </a:rPr>
              <a:t> di </a:t>
            </a:r>
            <a:r>
              <a:rPr lang="en-US" sz="1600" dirty="0" err="1" smtClean="0">
                <a:solidFill>
                  <a:schemeClr val="bg1"/>
                </a:solidFill>
              </a:rPr>
              <a:t>halaman</a:t>
            </a:r>
            <a:r>
              <a:rPr lang="en-US" sz="1600" dirty="0" smtClean="0">
                <a:solidFill>
                  <a:schemeClr val="bg1"/>
                </a:solidFill>
              </a:rPr>
              <a:t> dashboard (</a:t>
            </a:r>
            <a:r>
              <a:rPr lang="en-US" sz="1600" dirty="0" err="1" smtClean="0">
                <a:solidFill>
                  <a:schemeClr val="bg1"/>
                </a:solidFill>
              </a:rPr>
              <a:t>risiko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rantai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pasok</a:t>
            </a:r>
            <a:r>
              <a:rPr lang="en-US" sz="1600" dirty="0" smtClean="0">
                <a:solidFill>
                  <a:schemeClr val="bg1"/>
                </a:solidFill>
              </a:rPr>
              <a:t>).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228600"/>
            <a:ext cx="852311" cy="838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105"/>
            <a:ext cx="990600" cy="999187"/>
          </a:xfrm>
          <a:prstGeom prst="rect">
            <a:avLst/>
          </a:prstGeom>
        </p:spPr>
      </p:pic>
      <p:sp>
        <p:nvSpPr>
          <p:cNvPr id="9" name="Text 2"/>
          <p:cNvSpPr txBox="1">
            <a:spLocks/>
          </p:cNvSpPr>
          <p:nvPr/>
        </p:nvSpPr>
        <p:spPr>
          <a:xfrm>
            <a:off x="5257800" y="2730815"/>
            <a:ext cx="2514600" cy="8696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000" kern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6</a:t>
            </a:r>
            <a:r>
              <a:rPr lang="en-US" dirty="0" smtClean="0"/>
              <a:t>. </a:t>
            </a:r>
            <a:r>
              <a:rPr lang="en-US" dirty="0" err="1" smtClean="0"/>
              <a:t>Tanpa</a:t>
            </a:r>
            <a:r>
              <a:rPr lang="en-US" dirty="0" smtClean="0"/>
              <a:t> </a:t>
            </a:r>
            <a:r>
              <a:rPr lang="en-US" dirty="0" err="1" smtClean="0"/>
              <a:t>pembatasan</a:t>
            </a:r>
            <a:r>
              <a:rPr lang="en-US" dirty="0" smtClean="0"/>
              <a:t> </a:t>
            </a:r>
            <a:r>
              <a:rPr lang="en-US" dirty="0" err="1" smtClean="0"/>
              <a:t>laju</a:t>
            </a:r>
            <a:endParaRPr lang="en-US" dirty="0"/>
          </a:p>
        </p:txBody>
      </p:sp>
      <p:sp>
        <p:nvSpPr>
          <p:cNvPr id="10" name="Text 2"/>
          <p:cNvSpPr txBox="1"/>
          <p:nvPr/>
        </p:nvSpPr>
        <p:spPr>
          <a:xfrm>
            <a:off x="5257800" y="3600450"/>
            <a:ext cx="34290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600" b="1" dirty="0" err="1" smtClean="0">
                <a:solidFill>
                  <a:schemeClr val="bg1"/>
                </a:solidFill>
              </a:rPr>
              <a:t>Bukti</a:t>
            </a:r>
            <a:r>
              <a:rPr lang="en-US" sz="1600" b="1" dirty="0" smtClean="0">
                <a:solidFill>
                  <a:schemeClr val="bg1"/>
                </a:solidFill>
              </a:rPr>
              <a:t>: </a:t>
            </a:r>
            <a:r>
              <a:rPr lang="en-US" sz="1600" dirty="0" err="1" smtClean="0">
                <a:solidFill>
                  <a:schemeClr val="bg1"/>
                </a:solidFill>
              </a:rPr>
              <a:t>Satu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permintaan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memakan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sekitar</a:t>
            </a:r>
            <a:r>
              <a:rPr lang="en-US" sz="1600" dirty="0" smtClean="0">
                <a:solidFill>
                  <a:schemeClr val="bg1"/>
                </a:solidFill>
              </a:rPr>
              <a:t> 400 </a:t>
            </a:r>
            <a:r>
              <a:rPr lang="en-US" sz="1600" dirty="0" err="1" smtClean="0">
                <a:solidFill>
                  <a:schemeClr val="bg1"/>
                </a:solidFill>
              </a:rPr>
              <a:t>sampai</a:t>
            </a:r>
            <a:r>
              <a:rPr lang="en-US" sz="1600" dirty="0" smtClean="0">
                <a:solidFill>
                  <a:schemeClr val="bg1"/>
                </a:solidFill>
              </a:rPr>
              <a:t> 500 </a:t>
            </a:r>
            <a:r>
              <a:rPr lang="en-US" sz="1600" dirty="0" err="1" smtClean="0">
                <a:solidFill>
                  <a:schemeClr val="bg1"/>
                </a:solidFill>
              </a:rPr>
              <a:t>ms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dan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menghasilkan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respons</a:t>
            </a:r>
            <a:r>
              <a:rPr lang="en-US" sz="1600" dirty="0" smtClean="0">
                <a:solidFill>
                  <a:schemeClr val="bg1"/>
                </a:solidFill>
              </a:rPr>
              <a:t> 66 KB.</a:t>
            </a:r>
          </a:p>
          <a:p>
            <a:pPr>
              <a:spcAft>
                <a:spcPts val="800"/>
              </a:spcAft>
            </a:pPr>
            <a:r>
              <a:rPr lang="en-US" sz="1600" b="1" dirty="0" err="1" smtClean="0">
                <a:solidFill>
                  <a:schemeClr val="bg1"/>
                </a:solidFill>
              </a:rPr>
              <a:t>Dampak</a:t>
            </a:r>
            <a:r>
              <a:rPr lang="en-US" sz="1600" b="1" dirty="0" smtClean="0">
                <a:solidFill>
                  <a:schemeClr val="bg1"/>
                </a:solidFill>
              </a:rPr>
              <a:t>: </a:t>
            </a:r>
            <a:r>
              <a:rPr lang="en-US" sz="1600" dirty="0" err="1" smtClean="0">
                <a:solidFill>
                  <a:schemeClr val="bg1"/>
                </a:solidFill>
              </a:rPr>
              <a:t>Permintaan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berulang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dapat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membebani</a:t>
            </a:r>
            <a:r>
              <a:rPr lang="en-US" sz="1600" dirty="0" smtClean="0">
                <a:solidFill>
                  <a:schemeClr val="bg1"/>
                </a:solidFill>
              </a:rPr>
              <a:t> server gratis </a:t>
            </a:r>
            <a:r>
              <a:rPr lang="en-US" sz="1600" dirty="0" err="1" smtClean="0">
                <a:solidFill>
                  <a:schemeClr val="bg1"/>
                </a:solidFill>
              </a:rPr>
              <a:t>hingga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lambat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atau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tidak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tersedia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012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/>
          </p:nvPr>
        </p:nvSpPr>
        <p:spPr>
          <a:xfrm>
            <a:off x="457200" y="1752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 err="1" smtClean="0">
                <a:solidFill>
                  <a:srgbClr val="FFFFFF"/>
                </a:solidFill>
              </a:rPr>
              <a:t>Temuan</a:t>
            </a:r>
            <a:r>
              <a:rPr lang="en-US" sz="3200" b="1" dirty="0" smtClean="0">
                <a:solidFill>
                  <a:srgbClr val="FFFFFF"/>
                </a:solidFill>
              </a:rPr>
              <a:t> 7 </a:t>
            </a:r>
            <a:r>
              <a:rPr lang="en-US" sz="3200" b="1" dirty="0" err="1" smtClean="0">
                <a:solidFill>
                  <a:srgbClr val="FFFFFF"/>
                </a:solidFill>
              </a:rPr>
              <a:t>dan</a:t>
            </a:r>
            <a:r>
              <a:rPr lang="en-US" sz="3200" b="1" dirty="0" smtClean="0">
                <a:solidFill>
                  <a:srgbClr val="FFFFFF"/>
                </a:solidFill>
              </a:rPr>
              <a:t> 8 : data </a:t>
            </a:r>
            <a:r>
              <a:rPr lang="en-US" sz="3200" b="1" dirty="0" err="1" smtClean="0">
                <a:solidFill>
                  <a:srgbClr val="FFFFFF"/>
                </a:solidFill>
              </a:rPr>
              <a:t>dan</a:t>
            </a:r>
            <a:r>
              <a:rPr lang="en-US" sz="3200" b="1" dirty="0" smtClean="0">
                <a:solidFill>
                  <a:srgbClr val="FFFFFF"/>
                </a:solidFill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</a:rPr>
              <a:t>dependensi</a:t>
            </a:r>
            <a:endParaRPr lang="en-US" sz="3200" dirty="0"/>
          </a:p>
        </p:txBody>
      </p:sp>
      <p:sp>
        <p:nvSpPr>
          <p:cNvPr id="3" name="Text 2"/>
          <p:cNvSpPr>
            <a:spLocks noGrp="1"/>
          </p:cNvSpPr>
          <p:nvPr>
            <p:ph type="body" idx="105"/>
          </p:nvPr>
        </p:nvSpPr>
        <p:spPr>
          <a:xfrm>
            <a:off x="485774" y="2651760"/>
            <a:ext cx="3324225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dirty="0" smtClean="0"/>
              <a:t>7. Data demo di </a:t>
            </a:r>
            <a:r>
              <a:rPr lang="en-US" dirty="0" err="1" smtClean="0"/>
              <a:t>repositori</a:t>
            </a:r>
            <a:r>
              <a:rPr lang="en-US" dirty="0" smtClean="0"/>
              <a:t> </a:t>
            </a:r>
            <a:r>
              <a:rPr lang="en-US" dirty="0" err="1" smtClean="0"/>
              <a:t>publik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00450"/>
            <a:ext cx="381000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600" b="1" dirty="0" err="1" smtClean="0">
                <a:solidFill>
                  <a:schemeClr val="bg1"/>
                </a:solidFill>
              </a:rPr>
              <a:t>Bukti</a:t>
            </a:r>
            <a:r>
              <a:rPr lang="en-US" sz="1600" b="1" dirty="0" smtClean="0">
                <a:solidFill>
                  <a:schemeClr val="bg1"/>
                </a:solidFill>
              </a:rPr>
              <a:t>: </a:t>
            </a:r>
            <a:r>
              <a:rPr lang="en-US" sz="1600" dirty="0" err="1" smtClean="0">
                <a:solidFill>
                  <a:schemeClr val="bg1"/>
                </a:solidFill>
              </a:rPr>
              <a:t>Berkas</a:t>
            </a:r>
            <a:r>
              <a:rPr lang="en-US" sz="1600" dirty="0" smtClean="0">
                <a:solidFill>
                  <a:schemeClr val="bg1"/>
                </a:solidFill>
              </a:rPr>
              <a:t> .</a:t>
            </a:r>
            <a:r>
              <a:rPr lang="en-US" sz="1600" dirty="0" err="1" smtClean="0">
                <a:solidFill>
                  <a:schemeClr val="bg1"/>
                </a:solidFill>
              </a:rPr>
              <a:t>db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dan</a:t>
            </a:r>
            <a:r>
              <a:rPr lang="en-US" sz="1600" dirty="0" smtClean="0">
                <a:solidFill>
                  <a:schemeClr val="bg1"/>
                </a:solidFill>
              </a:rPr>
              <a:t> CSV </a:t>
            </a:r>
            <a:r>
              <a:rPr lang="en-US" sz="1600" dirty="0" err="1" smtClean="0">
                <a:solidFill>
                  <a:schemeClr val="bg1"/>
                </a:solidFill>
              </a:rPr>
              <a:t>tersimpan</a:t>
            </a:r>
            <a:r>
              <a:rPr lang="en-US" sz="1600" dirty="0" smtClean="0">
                <a:solidFill>
                  <a:schemeClr val="bg1"/>
                </a:solidFill>
              </a:rPr>
              <a:t> di </a:t>
            </a:r>
            <a:r>
              <a:rPr lang="en-US" sz="1600" dirty="0" err="1" smtClean="0">
                <a:solidFill>
                  <a:schemeClr val="bg1"/>
                </a:solidFill>
              </a:rPr>
              <a:t>GitHub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publik</a:t>
            </a:r>
            <a:r>
              <a:rPr lang="en-US" sz="1600" dirty="0" smtClean="0">
                <a:solidFill>
                  <a:schemeClr val="bg1"/>
                </a:solidFill>
              </a:rPr>
              <a:t>; </a:t>
            </a:r>
            <a:r>
              <a:rPr lang="en-US" sz="1600" dirty="0" err="1" smtClean="0">
                <a:solidFill>
                  <a:schemeClr val="bg1"/>
                </a:solidFill>
              </a:rPr>
              <a:t>datanya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acak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dari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skrip</a:t>
            </a:r>
            <a:r>
              <a:rPr lang="en-US" sz="1600" dirty="0" smtClean="0">
                <a:solidFill>
                  <a:schemeClr val="bg1"/>
                </a:solidFill>
              </a:rPr>
              <a:t> generate.py.</a:t>
            </a:r>
          </a:p>
          <a:p>
            <a:pPr>
              <a:spcAft>
                <a:spcPts val="800"/>
              </a:spcAft>
            </a:pPr>
            <a:r>
              <a:rPr lang="en-US" sz="1600" b="1" dirty="0" err="1" smtClean="0">
                <a:solidFill>
                  <a:schemeClr val="bg1"/>
                </a:solidFill>
              </a:rPr>
              <a:t>Dampak</a:t>
            </a:r>
            <a:r>
              <a:rPr lang="en-US" sz="1600" b="1" dirty="0" smtClean="0">
                <a:solidFill>
                  <a:schemeClr val="bg1"/>
                </a:solidFill>
              </a:rPr>
              <a:t>: </a:t>
            </a:r>
            <a:r>
              <a:rPr lang="en-US" sz="1600" dirty="0" err="1" smtClean="0">
                <a:solidFill>
                  <a:schemeClr val="bg1"/>
                </a:solidFill>
              </a:rPr>
              <a:t>Bukan</a:t>
            </a:r>
            <a:r>
              <a:rPr lang="en-US" sz="1600" dirty="0" smtClean="0">
                <a:solidFill>
                  <a:schemeClr val="bg1"/>
                </a:solidFill>
              </a:rPr>
              <a:t> data </a:t>
            </a:r>
            <a:r>
              <a:rPr lang="en-US" sz="1600" dirty="0" err="1" smtClean="0">
                <a:solidFill>
                  <a:schemeClr val="bg1"/>
                </a:solidFill>
              </a:rPr>
              <a:t>pelanggan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nyata</a:t>
            </a:r>
            <a:r>
              <a:rPr lang="en-US" sz="1600" dirty="0" smtClean="0">
                <a:solidFill>
                  <a:schemeClr val="bg1"/>
                </a:solidFill>
              </a:rPr>
              <a:t>, </a:t>
            </a:r>
            <a:r>
              <a:rPr lang="en-US" sz="1600" dirty="0" err="1" smtClean="0">
                <a:solidFill>
                  <a:schemeClr val="bg1"/>
                </a:solidFill>
              </a:rPr>
              <a:t>tetapi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pola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ini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melanggar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perlindungan</a:t>
            </a:r>
            <a:r>
              <a:rPr lang="en-US" sz="1600" dirty="0" smtClean="0">
                <a:solidFill>
                  <a:schemeClr val="bg1"/>
                </a:solidFill>
              </a:rPr>
              <a:t> data </a:t>
            </a:r>
            <a:r>
              <a:rPr lang="en-US" sz="1600" dirty="0" err="1" smtClean="0">
                <a:solidFill>
                  <a:schemeClr val="bg1"/>
                </a:solidFill>
              </a:rPr>
              <a:t>pribadi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jika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memakai</a:t>
            </a:r>
            <a:r>
              <a:rPr lang="en-US" sz="1600" dirty="0" smtClean="0">
                <a:solidFill>
                  <a:schemeClr val="bg1"/>
                </a:solidFill>
              </a:rPr>
              <a:t> data </a:t>
            </a:r>
            <a:r>
              <a:rPr lang="en-US" sz="1600" dirty="0" err="1" smtClean="0">
                <a:solidFill>
                  <a:schemeClr val="bg1"/>
                </a:solidFill>
              </a:rPr>
              <a:t>riil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228600"/>
            <a:ext cx="852311" cy="838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105"/>
            <a:ext cx="990600" cy="999187"/>
          </a:xfrm>
          <a:prstGeom prst="rect">
            <a:avLst/>
          </a:prstGeom>
        </p:spPr>
      </p:pic>
      <p:sp>
        <p:nvSpPr>
          <p:cNvPr id="9" name="Text 2"/>
          <p:cNvSpPr txBox="1">
            <a:spLocks/>
          </p:cNvSpPr>
          <p:nvPr/>
        </p:nvSpPr>
        <p:spPr>
          <a:xfrm>
            <a:off x="5257800" y="2730815"/>
            <a:ext cx="2514600" cy="8696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000" kern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8. </a:t>
            </a:r>
            <a:r>
              <a:rPr lang="en-US" dirty="0" err="1" smtClean="0"/>
              <a:t>Dependensi</a:t>
            </a:r>
            <a:r>
              <a:rPr lang="en-US" dirty="0" smtClean="0"/>
              <a:t> </a:t>
            </a:r>
            <a:r>
              <a:rPr lang="en-US" dirty="0" err="1" smtClean="0"/>
              <a:t>belum</a:t>
            </a:r>
            <a:r>
              <a:rPr lang="en-US" dirty="0" smtClean="0"/>
              <a:t> </a:t>
            </a:r>
            <a:r>
              <a:rPr lang="en-US" dirty="0" err="1" smtClean="0"/>
              <a:t>diaudit</a:t>
            </a:r>
            <a:endParaRPr lang="en-US" dirty="0"/>
          </a:p>
        </p:txBody>
      </p:sp>
      <p:sp>
        <p:nvSpPr>
          <p:cNvPr id="10" name="Text 2"/>
          <p:cNvSpPr txBox="1"/>
          <p:nvPr/>
        </p:nvSpPr>
        <p:spPr>
          <a:xfrm>
            <a:off x="5257800" y="3600450"/>
            <a:ext cx="34290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600" b="1" dirty="0" err="1" smtClean="0">
                <a:solidFill>
                  <a:schemeClr val="bg1"/>
                </a:solidFill>
              </a:rPr>
              <a:t>Bukti</a:t>
            </a:r>
            <a:r>
              <a:rPr lang="en-US" sz="1600" b="1" dirty="0" smtClean="0">
                <a:solidFill>
                  <a:schemeClr val="bg1"/>
                </a:solidFill>
              </a:rPr>
              <a:t>: </a:t>
            </a:r>
            <a:r>
              <a:rPr lang="en-US" sz="1600" dirty="0" err="1" smtClean="0">
                <a:solidFill>
                  <a:schemeClr val="bg1"/>
                </a:solidFill>
              </a:rPr>
              <a:t>Versi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gunicorn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belum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dikunci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dan</a:t>
            </a:r>
            <a:r>
              <a:rPr lang="en-US" sz="1600" dirty="0" smtClean="0">
                <a:solidFill>
                  <a:schemeClr val="bg1"/>
                </a:solidFill>
              </a:rPr>
              <a:t> audit </a:t>
            </a:r>
            <a:r>
              <a:rPr lang="en-US" sz="1600" dirty="0" err="1" smtClean="0">
                <a:solidFill>
                  <a:schemeClr val="bg1"/>
                </a:solidFill>
              </a:rPr>
              <a:t>paket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belum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dijalankan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US" sz="1600" b="1" dirty="0" err="1" smtClean="0">
                <a:solidFill>
                  <a:schemeClr val="bg1"/>
                </a:solidFill>
              </a:rPr>
              <a:t>Dampak</a:t>
            </a:r>
            <a:r>
              <a:rPr lang="en-US" sz="1600" b="1" dirty="0" smtClean="0">
                <a:solidFill>
                  <a:schemeClr val="bg1"/>
                </a:solidFill>
              </a:rPr>
              <a:t>: </a:t>
            </a:r>
            <a:r>
              <a:rPr lang="en-US" sz="1600" dirty="0" err="1" smtClean="0">
                <a:solidFill>
                  <a:schemeClr val="bg1"/>
                </a:solidFill>
              </a:rPr>
              <a:t>Paket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usang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atau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rentan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dapat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tidak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terdeteksi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807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man 1"/>
          <p:cNvSpPr/>
          <p:nvPr/>
        </p:nvSpPr>
        <p:spPr>
          <a:xfrm>
            <a:off x="457200" y="2468880"/>
            <a:ext cx="40233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2"/>
          <p:cNvSpPr txBox="1"/>
          <p:nvPr/>
        </p:nvSpPr>
        <p:spPr>
          <a:xfrm>
            <a:off x="640080" y="25603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7C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dari 3</a:t>
            </a:r>
            <a:endParaRPr lang="en-US" sz="2600" dirty="0"/>
          </a:p>
        </p:txBody>
      </p:sp>
      <p:sp>
        <p:nvSpPr>
          <p:cNvPr id="9" name="Text 3"/>
          <p:cNvSpPr txBox="1"/>
          <p:nvPr/>
        </p:nvSpPr>
        <p:spPr>
          <a:xfrm>
            <a:off x="2377440" y="2560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</a:rPr>
              <a:t>payload SQL injection tidak berefek</a:t>
            </a:r>
            <a:endParaRPr lang="en-US" sz="1400" dirty="0"/>
          </a:p>
        </p:txBody>
      </p:sp>
      <p:sp>
        <p:nvSpPr>
          <p:cNvPr id="10" name="Text 4"/>
          <p:cNvSpPr txBox="1"/>
          <p:nvPr/>
        </p:nvSpPr>
        <p:spPr>
          <a:xfrm>
            <a:off x="640080" y="3291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</a:rPr>
              <a:t>Tabel produk tetap 17 baris; kueri tetap tanpa input pengguna</a:t>
            </a:r>
            <a:endParaRPr lang="en-US" sz="1400" dirty="0"/>
          </a:p>
        </p:txBody>
      </p:sp>
      <p:sp>
        <p:nvSpPr>
          <p:cNvPr id="11" name="Aman 2"/>
          <p:cNvSpPr/>
          <p:nvPr/>
        </p:nvSpPr>
        <p:spPr>
          <a:xfrm>
            <a:off x="4663440" y="2468880"/>
            <a:ext cx="40233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6"/>
          <p:cNvSpPr txBox="1"/>
          <p:nvPr/>
        </p:nvSpPr>
        <p:spPr>
          <a:xfrm>
            <a:off x="4846320" y="25603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7C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dari 4</a:t>
            </a:r>
            <a:endParaRPr lang="en-US" sz="2600" dirty="0"/>
          </a:p>
        </p:txBody>
      </p:sp>
      <p:sp>
        <p:nvSpPr>
          <p:cNvPr id="13" name="Text 7"/>
          <p:cNvSpPr txBox="1"/>
          <p:nvPr/>
        </p:nvSpPr>
        <p:spPr>
          <a:xfrm>
            <a:off x="6583680" y="2560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</a:rPr>
              <a:t>payload XSS lolos mentah ke HTML</a:t>
            </a:r>
            <a:endParaRPr lang="en-US" sz="1400" dirty="0"/>
          </a:p>
        </p:txBody>
      </p:sp>
      <p:sp>
        <p:nvSpPr>
          <p:cNvPr id="14" name="Text 8"/>
          <p:cNvSpPr txBox="1"/>
          <p:nvPr/>
        </p:nvSpPr>
        <p:spPr>
          <a:xfrm>
            <a:off x="4846320" y="3291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</a:rPr>
              <a:t>Jinja2 escaping otomatis dan validasi input</a:t>
            </a:r>
            <a:endParaRPr lang="en-US" sz="1400" dirty="0"/>
          </a:p>
        </p:txBody>
      </p:sp>
      <p:sp>
        <p:nvSpPr>
          <p:cNvPr id="15" name="Aman 3"/>
          <p:cNvSpPr/>
          <p:nvPr/>
        </p:nvSpPr>
        <p:spPr>
          <a:xfrm>
            <a:off x="457200" y="4160520"/>
            <a:ext cx="40233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0"/>
          <p:cNvSpPr txBox="1"/>
          <p:nvPr/>
        </p:nvSpPr>
        <p:spPr>
          <a:xfrm>
            <a:off x="640080" y="4251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7C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</a:t>
            </a:r>
            <a:endParaRPr lang="en-US" sz="2600" dirty="0"/>
          </a:p>
        </p:txBody>
      </p:sp>
      <p:sp>
        <p:nvSpPr>
          <p:cNvPr id="17" name="Text 11"/>
          <p:cNvSpPr txBox="1"/>
          <p:nvPr/>
        </p:nvSpPr>
        <p:spPr>
          <a:xfrm>
            <a:off x="2377440" y="4251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</a:rPr>
              <a:t>akses ../config.py lewat /static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983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</a:rPr>
              <a:t>Berkas di luar folder static tidak dapat diunduh</a:t>
            </a:r>
            <a:endParaRPr lang="en-US" sz="1400" dirty="0"/>
          </a:p>
        </p:txBody>
      </p:sp>
      <p:sp>
        <p:nvSpPr>
          <p:cNvPr id="19" name="Aman 4"/>
          <p:cNvSpPr/>
          <p:nvPr/>
        </p:nvSpPr>
        <p:spPr>
          <a:xfrm>
            <a:off x="4663440" y="4160520"/>
            <a:ext cx="40233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4846320" y="4251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7C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 / 405</a:t>
            </a:r>
            <a:endParaRPr lang="en-US" sz="2600" dirty="0"/>
          </a:p>
        </p:txBody>
      </p:sp>
      <p:sp>
        <p:nvSpPr>
          <p:cNvPr id="21" name="Text 15"/>
          <p:cNvSpPr txBox="1"/>
          <p:nvPr/>
        </p:nvSpPr>
        <p:spPr>
          <a:xfrm>
            <a:off x="6583680" y="4251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</a:rPr>
              <a:t>rute tak dikenal dan metode salah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4983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</a:rPr>
              <a:t>Tanpa jejak tumpukan kode pada respons</a:t>
            </a:r>
            <a:endParaRPr lang="en-US" sz="1400" dirty="0"/>
          </a:p>
        </p:txBody>
      </p:sp>
      <p:sp>
        <p:nvSpPr>
          <p:cNvPr id="24" name="Title 23"/>
          <p:cNvSpPr>
            <a:spLocks noGrp="1"/>
          </p:cNvSpPr>
          <p:nvPr>
            <p:ph type="title" idx="104"/>
          </p:nvPr>
        </p:nvSpPr>
        <p:spPr>
          <a:xfrm>
            <a:off x="457200" y="2712720"/>
            <a:ext cx="8229600" cy="18288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105"/>
            <a:ext cx="990600" cy="999187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228600"/>
            <a:ext cx="852311" cy="838200"/>
          </a:xfrm>
          <a:prstGeom prst="rect">
            <a:avLst/>
          </a:prstGeom>
        </p:spPr>
      </p:pic>
      <p:sp>
        <p:nvSpPr>
          <p:cNvPr id="27" name="Text 2"/>
          <p:cNvSpPr txBox="1">
            <a:spLocks/>
          </p:cNvSpPr>
          <p:nvPr/>
        </p:nvSpPr>
        <p:spPr>
          <a:xfrm>
            <a:off x="457200" y="1676400"/>
            <a:ext cx="8229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r>
              <a:rPr lang="nl-NL" sz="3200" dirty="0" smtClean="0"/>
              <a:t>Kontrol  yang sudah aman</a:t>
            </a: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216120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105"/>
            <a:ext cx="990600" cy="999187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228600"/>
            <a:ext cx="852311" cy="83820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371600"/>
            <a:ext cx="6069013" cy="504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1670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105"/>
            <a:ext cx="990600" cy="999187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228600"/>
            <a:ext cx="852311" cy="838200"/>
          </a:xfrm>
          <a:prstGeom prst="rect">
            <a:avLst/>
          </a:prstGeom>
        </p:spPr>
      </p:pic>
      <p:sp>
        <p:nvSpPr>
          <p:cNvPr id="4" name="Text 2"/>
          <p:cNvSpPr txBox="1">
            <a:spLocks/>
          </p:cNvSpPr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r>
              <a:rPr lang="nl-NL" sz="3200" dirty="0" smtClean="0"/>
              <a:t>Perbaikan yang sudah diterapkan </a:t>
            </a:r>
            <a:endParaRPr lang="nl-NL" sz="3200" dirty="0"/>
          </a:p>
        </p:txBody>
      </p:sp>
      <p:sp>
        <p:nvSpPr>
          <p:cNvPr id="2" name="Rectangle 1"/>
          <p:cNvSpPr/>
          <p:nvPr/>
        </p:nvSpPr>
        <p:spPr>
          <a:xfrm>
            <a:off x="457200" y="2771775"/>
            <a:ext cx="4572000" cy="327269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5 </a:t>
            </a:r>
            <a:r>
              <a:rPr lang="en-US" dirty="0" err="1" smtClean="0">
                <a:solidFill>
                  <a:schemeClr val="bg1"/>
                </a:solidFill>
              </a:rPr>
              <a:t>dari</a:t>
            </a:r>
            <a:r>
              <a:rPr lang="en-US" dirty="0" smtClean="0">
                <a:solidFill>
                  <a:schemeClr val="bg1"/>
                </a:solidFill>
              </a:rPr>
              <a:t> 6 header </a:t>
            </a:r>
            <a:r>
              <a:rPr lang="en-US" dirty="0" err="1" smtClean="0">
                <a:solidFill>
                  <a:schemeClr val="bg1"/>
                </a:solidFill>
              </a:rPr>
              <a:t>keamanan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terpasang</a:t>
            </a:r>
            <a:r>
              <a:rPr lang="en-US" dirty="0" smtClean="0">
                <a:solidFill>
                  <a:schemeClr val="bg1"/>
                </a:solidFill>
              </a:rPr>
              <a:t>; HSTS </a:t>
            </a:r>
            <a:r>
              <a:rPr lang="en-US" dirty="0" err="1" smtClean="0">
                <a:solidFill>
                  <a:schemeClr val="bg1"/>
                </a:solidFill>
              </a:rPr>
              <a:t>diatur</a:t>
            </a:r>
            <a:r>
              <a:rPr lang="en-US" dirty="0" smtClean="0">
                <a:solidFill>
                  <a:schemeClr val="bg1"/>
                </a:solidFill>
              </a:rPr>
              <a:t> di hosting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Mode debug </a:t>
            </a:r>
            <a:r>
              <a:rPr lang="en-US" dirty="0" err="1" smtClean="0">
                <a:solidFill>
                  <a:schemeClr val="bg1"/>
                </a:solidFill>
              </a:rPr>
              <a:t>dikendalikan</a:t>
            </a:r>
            <a:r>
              <a:rPr lang="en-US" dirty="0" smtClean="0">
                <a:solidFill>
                  <a:schemeClr val="bg1"/>
                </a:solidFill>
              </a:rPr>
              <a:t> FLASK_DEBUG, </a:t>
            </a:r>
            <a:r>
              <a:rPr lang="en-US" dirty="0" err="1" smtClean="0">
                <a:solidFill>
                  <a:schemeClr val="bg1"/>
                </a:solidFill>
              </a:rPr>
              <a:t>bawaan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mati</a:t>
            </a:r>
            <a:endParaRPr lang="en-US" dirty="0" smtClean="0">
              <a:solidFill>
                <a:schemeClr val="bg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 err="1" smtClean="0">
                <a:solidFill>
                  <a:schemeClr val="bg1"/>
                </a:solidFill>
              </a:rPr>
              <a:t>Autentikasi</a:t>
            </a:r>
            <a:r>
              <a:rPr lang="en-US" dirty="0" smtClean="0">
                <a:solidFill>
                  <a:schemeClr val="bg1"/>
                </a:solidFill>
              </a:rPr>
              <a:t> HTTP Basic </a:t>
            </a:r>
            <a:r>
              <a:rPr lang="en-US" dirty="0" err="1" smtClean="0">
                <a:solidFill>
                  <a:schemeClr val="bg1"/>
                </a:solidFill>
              </a:rPr>
              <a:t>opsional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lewat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variabel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lingkungan</a:t>
            </a:r>
            <a:endParaRPr lang="en-US" dirty="0" smtClean="0">
              <a:solidFill>
                <a:schemeClr val="bg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 err="1" smtClean="0">
                <a:solidFill>
                  <a:schemeClr val="bg1"/>
                </a:solidFill>
              </a:rPr>
              <a:t>Panjang</a:t>
            </a:r>
            <a:r>
              <a:rPr lang="en-US" dirty="0" smtClean="0">
                <a:solidFill>
                  <a:schemeClr val="bg1"/>
                </a:solidFill>
              </a:rPr>
              <a:t> parameter filter </a:t>
            </a:r>
            <a:r>
              <a:rPr lang="en-US" dirty="0" err="1" smtClean="0">
                <a:solidFill>
                  <a:schemeClr val="bg1"/>
                </a:solidFill>
              </a:rPr>
              <a:t>dibatasi</a:t>
            </a:r>
            <a:r>
              <a:rPr lang="en-US" dirty="0" smtClean="0">
                <a:solidFill>
                  <a:schemeClr val="bg1"/>
                </a:solidFill>
              </a:rPr>
              <a:t> 40 </a:t>
            </a:r>
            <a:r>
              <a:rPr lang="en-US" dirty="0" err="1" smtClean="0">
                <a:solidFill>
                  <a:schemeClr val="bg1"/>
                </a:solidFill>
              </a:rPr>
              <a:t>karakter</a:t>
            </a:r>
            <a:endParaRPr lang="en-US" dirty="0" smtClean="0">
              <a:solidFill>
                <a:schemeClr val="bg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 err="1" smtClean="0">
                <a:solidFill>
                  <a:schemeClr val="bg1"/>
                </a:solidFill>
              </a:rPr>
              <a:t>Skrip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ekspor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tidak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menyalin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tabel</a:t>
            </a:r>
            <a:r>
              <a:rPr lang="en-US" dirty="0" smtClean="0">
                <a:solidFill>
                  <a:schemeClr val="bg1"/>
                </a:solidFill>
              </a:rPr>
              <a:t> admin </a:t>
            </a:r>
            <a:r>
              <a:rPr lang="en-US" dirty="0" err="1" smtClean="0">
                <a:solidFill>
                  <a:schemeClr val="bg1"/>
                </a:solidFill>
              </a:rPr>
              <a:t>dan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kontak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pelanggan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711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/>
          </p:nvPr>
        </p:nvSpPr>
        <p:spPr>
          <a:xfrm>
            <a:off x="457200" y="1752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 err="1" smtClean="0">
                <a:solidFill>
                  <a:srgbClr val="FFFFFF"/>
                </a:solidFill>
              </a:rPr>
              <a:t>Rekomendasi</a:t>
            </a:r>
            <a:r>
              <a:rPr lang="en-US" sz="3200" b="1" dirty="0" smtClean="0">
                <a:solidFill>
                  <a:srgbClr val="FFFFFF"/>
                </a:solidFill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</a:rPr>
              <a:t>berdasarkan</a:t>
            </a:r>
            <a:r>
              <a:rPr lang="en-US" sz="3200" b="1" dirty="0" smtClean="0">
                <a:solidFill>
                  <a:srgbClr val="FFFFFF"/>
                </a:solidFill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</a:rPr>
              <a:t>prioritas</a:t>
            </a:r>
            <a:endParaRPr lang="en-US" sz="3200" dirty="0"/>
          </a:p>
        </p:txBody>
      </p:sp>
      <p:sp>
        <p:nvSpPr>
          <p:cNvPr id="3" name="Text 2"/>
          <p:cNvSpPr>
            <a:spLocks noGrp="1"/>
          </p:cNvSpPr>
          <p:nvPr>
            <p:ph type="body" idx="105"/>
          </p:nvPr>
        </p:nvSpPr>
        <p:spPr>
          <a:xfrm>
            <a:off x="485775" y="2651760"/>
            <a:ext cx="262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2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Segera</a:t>
            </a:r>
            <a:r>
              <a:rPr lang="en-US" sz="2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86100"/>
            <a:ext cx="266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 smtClean="0">
                <a:solidFill>
                  <a:schemeClr val="bg1"/>
                </a:solidFill>
              </a:rPr>
              <a:t>Aktifkan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autentikasi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bila</a:t>
            </a:r>
            <a:r>
              <a:rPr lang="en-US" sz="1600" dirty="0" smtClean="0">
                <a:solidFill>
                  <a:schemeClr val="bg1"/>
                </a:solidFill>
              </a:rPr>
              <a:t> data </a:t>
            </a:r>
            <a:r>
              <a:rPr lang="en-US" sz="1600" dirty="0" err="1" smtClean="0">
                <a:solidFill>
                  <a:schemeClr val="bg1"/>
                </a:solidFill>
              </a:rPr>
              <a:t>riil</a:t>
            </a:r>
            <a:endParaRPr lang="en-US" sz="1600" dirty="0" smtClean="0">
              <a:solidFill>
                <a:schemeClr val="bg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 smtClean="0">
                <a:solidFill>
                  <a:schemeClr val="bg1"/>
                </a:solidFill>
              </a:rPr>
              <a:t>Ganti</a:t>
            </a:r>
            <a:r>
              <a:rPr lang="en-US" sz="1600" dirty="0" smtClean="0">
                <a:solidFill>
                  <a:schemeClr val="bg1"/>
                </a:solidFill>
              </a:rPr>
              <a:t> root </a:t>
            </a:r>
            <a:r>
              <a:rPr lang="en-US" sz="1600" dirty="0" err="1" smtClean="0">
                <a:solidFill>
                  <a:schemeClr val="bg1"/>
                </a:solidFill>
              </a:rPr>
              <a:t>dengan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pengguna</a:t>
            </a:r>
            <a:r>
              <a:rPr lang="en-US" sz="1600" dirty="0" smtClean="0">
                <a:solidFill>
                  <a:schemeClr val="bg1"/>
                </a:solidFill>
              </a:rPr>
              <a:t> MySQL </a:t>
            </a:r>
            <a:r>
              <a:rPr lang="en-US" sz="1600" dirty="0" err="1" smtClean="0">
                <a:solidFill>
                  <a:schemeClr val="bg1"/>
                </a:solidFill>
              </a:rPr>
              <a:t>hanya-baca</a:t>
            </a:r>
            <a:endParaRPr lang="en-US" sz="1600" dirty="0" smtClean="0">
              <a:solidFill>
                <a:schemeClr val="bg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 smtClean="0">
                <a:solidFill>
                  <a:schemeClr val="bg1"/>
                </a:solidFill>
              </a:rPr>
              <a:t>Pastikan</a:t>
            </a:r>
            <a:r>
              <a:rPr lang="en-US" sz="1600" dirty="0" smtClean="0">
                <a:solidFill>
                  <a:schemeClr val="bg1"/>
                </a:solidFill>
              </a:rPr>
              <a:t> .</a:t>
            </a:r>
            <a:r>
              <a:rPr lang="en-US" sz="1600" dirty="0" err="1" smtClean="0">
                <a:solidFill>
                  <a:schemeClr val="bg1"/>
                </a:solidFill>
              </a:rPr>
              <a:t>db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publik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tanpa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tabel</a:t>
            </a:r>
            <a:r>
              <a:rPr lang="en-US" sz="1600" dirty="0" smtClean="0">
                <a:solidFill>
                  <a:schemeClr val="bg1"/>
                </a:solidFill>
              </a:rPr>
              <a:t> admin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228600"/>
            <a:ext cx="852311" cy="838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105"/>
            <a:ext cx="990600" cy="999187"/>
          </a:xfrm>
          <a:prstGeom prst="rect">
            <a:avLst/>
          </a:prstGeom>
        </p:spPr>
      </p:pic>
      <p:sp>
        <p:nvSpPr>
          <p:cNvPr id="7" name="Text 2"/>
          <p:cNvSpPr txBox="1">
            <a:spLocks/>
          </p:cNvSpPr>
          <p:nvPr/>
        </p:nvSpPr>
        <p:spPr>
          <a:xfrm>
            <a:off x="3200400" y="2686050"/>
            <a:ext cx="2476500" cy="3105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000" kern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2. </a:t>
            </a:r>
            <a:r>
              <a:rPr lang="en-US" dirty="0" err="1" smtClean="0"/>
              <a:t>Jangka</a:t>
            </a:r>
            <a:r>
              <a:rPr lang="en-US" dirty="0" smtClean="0"/>
              <a:t> </a:t>
            </a:r>
            <a:r>
              <a:rPr lang="en-US" dirty="0" err="1" smtClean="0"/>
              <a:t>pendek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 2"/>
          <p:cNvSpPr txBox="1"/>
          <p:nvPr/>
        </p:nvSpPr>
        <p:spPr>
          <a:xfrm>
            <a:off x="3200400" y="3124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 smtClean="0">
                <a:solidFill>
                  <a:schemeClr val="bg1"/>
                </a:solidFill>
              </a:rPr>
              <a:t>Tambahkan</a:t>
            </a:r>
            <a:r>
              <a:rPr lang="en-US" sz="1600" dirty="0" smtClean="0">
                <a:solidFill>
                  <a:schemeClr val="bg1"/>
                </a:solidFill>
              </a:rPr>
              <a:t> SRI </a:t>
            </a:r>
            <a:r>
              <a:rPr lang="en-US" sz="1600" dirty="0" err="1" smtClean="0">
                <a:solidFill>
                  <a:schemeClr val="bg1"/>
                </a:solidFill>
              </a:rPr>
              <a:t>atau</a:t>
            </a:r>
            <a:r>
              <a:rPr lang="en-US" sz="1600" dirty="0" smtClean="0">
                <a:solidFill>
                  <a:schemeClr val="bg1"/>
                </a:solidFill>
              </a:rPr>
              <a:t> host </a:t>
            </a:r>
            <a:r>
              <a:rPr lang="en-US" sz="1600" dirty="0" err="1" smtClean="0">
                <a:solidFill>
                  <a:schemeClr val="bg1"/>
                </a:solidFill>
              </a:rPr>
              <a:t>aset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sendiri</a:t>
            </a:r>
            <a:endParaRPr lang="en-US" sz="1600" dirty="0" smtClean="0">
              <a:solidFill>
                <a:schemeClr val="bg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 smtClean="0">
                <a:solidFill>
                  <a:schemeClr val="bg1"/>
                </a:solidFill>
              </a:rPr>
              <a:t>Kunci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versi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paket</a:t>
            </a:r>
            <a:r>
              <a:rPr lang="en-US" sz="1600" dirty="0" smtClean="0">
                <a:solidFill>
                  <a:schemeClr val="bg1"/>
                </a:solidFill>
              </a:rPr>
              <a:t>, </a:t>
            </a:r>
            <a:r>
              <a:rPr lang="en-US" sz="1600" dirty="0" err="1" smtClean="0">
                <a:solidFill>
                  <a:schemeClr val="bg1"/>
                </a:solidFill>
              </a:rPr>
              <a:t>jalankan</a:t>
            </a:r>
            <a:r>
              <a:rPr lang="en-US" sz="1600" dirty="0" smtClean="0">
                <a:solidFill>
                  <a:schemeClr val="bg1"/>
                </a:solidFill>
              </a:rPr>
              <a:t> pip-audit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 smtClean="0">
                <a:solidFill>
                  <a:schemeClr val="bg1"/>
                </a:solidFill>
              </a:rPr>
              <a:t>Batasi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laju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atau</a:t>
            </a:r>
            <a:r>
              <a:rPr lang="en-US" sz="1600" dirty="0" smtClean="0">
                <a:solidFill>
                  <a:schemeClr val="bg1"/>
                </a:solidFill>
              </a:rPr>
              <a:t> cache </a:t>
            </a:r>
            <a:r>
              <a:rPr lang="en-US" sz="1600" dirty="0" err="1" smtClean="0">
                <a:solidFill>
                  <a:schemeClr val="bg1"/>
                </a:solidFill>
              </a:rPr>
              <a:t>hasil</a:t>
            </a:r>
            <a:r>
              <a:rPr lang="en-US" sz="1600" dirty="0" smtClean="0">
                <a:solidFill>
                  <a:schemeClr val="bg1"/>
                </a:solidFill>
              </a:rPr>
              <a:t>, </a:t>
            </a:r>
            <a:r>
              <a:rPr lang="en-US" sz="1600" dirty="0" err="1" smtClean="0">
                <a:solidFill>
                  <a:schemeClr val="bg1"/>
                </a:solidFill>
              </a:rPr>
              <a:t>aktifkan</a:t>
            </a:r>
            <a:r>
              <a:rPr lang="en-US" sz="1600" dirty="0" smtClean="0">
                <a:solidFill>
                  <a:schemeClr val="bg1"/>
                </a:solidFill>
              </a:rPr>
              <a:t> HSTS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 2"/>
          <p:cNvSpPr txBox="1">
            <a:spLocks/>
          </p:cNvSpPr>
          <p:nvPr/>
        </p:nvSpPr>
        <p:spPr>
          <a:xfrm>
            <a:off x="6210300" y="2686050"/>
            <a:ext cx="2476500" cy="3105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000" kern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3. </a:t>
            </a:r>
            <a:r>
              <a:rPr lang="en-US" dirty="0" err="1" smtClean="0"/>
              <a:t>Jangka</a:t>
            </a:r>
            <a:r>
              <a:rPr lang="en-US" dirty="0" smtClean="0"/>
              <a:t> </a:t>
            </a:r>
            <a:r>
              <a:rPr lang="en-US" dirty="0" err="1" smtClean="0"/>
              <a:t>panjang</a:t>
            </a:r>
            <a:endParaRPr lang="en-US" dirty="0"/>
          </a:p>
        </p:txBody>
      </p:sp>
      <p:sp>
        <p:nvSpPr>
          <p:cNvPr id="10" name="Text 2"/>
          <p:cNvSpPr txBox="1"/>
          <p:nvPr/>
        </p:nvSpPr>
        <p:spPr>
          <a:xfrm>
            <a:off x="6248400" y="314325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smtClean="0">
                <a:solidFill>
                  <a:schemeClr val="bg1"/>
                </a:solidFill>
              </a:rPr>
              <a:t>CSP </a:t>
            </a:r>
            <a:r>
              <a:rPr lang="en-US" sz="1600" dirty="0" err="1" smtClean="0">
                <a:solidFill>
                  <a:schemeClr val="bg1"/>
                </a:solidFill>
              </a:rPr>
              <a:t>berbasis</a:t>
            </a:r>
            <a:r>
              <a:rPr lang="en-US" sz="1600" dirty="0" smtClean="0">
                <a:solidFill>
                  <a:schemeClr val="bg1"/>
                </a:solidFill>
              </a:rPr>
              <a:t> nonce </a:t>
            </a:r>
            <a:r>
              <a:rPr lang="en-US" sz="1600" dirty="0" err="1" smtClean="0">
                <a:solidFill>
                  <a:schemeClr val="bg1"/>
                </a:solidFill>
              </a:rPr>
              <a:t>tanpa</a:t>
            </a:r>
            <a:r>
              <a:rPr lang="en-US" sz="1600" dirty="0" smtClean="0">
                <a:solidFill>
                  <a:schemeClr val="bg1"/>
                </a:solidFill>
              </a:rPr>
              <a:t> unsafe-inline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smtClean="0">
                <a:solidFill>
                  <a:schemeClr val="bg1"/>
                </a:solidFill>
              </a:rPr>
              <a:t>Hash kata </a:t>
            </a:r>
            <a:r>
              <a:rPr lang="en-US" sz="1600" dirty="0" err="1" smtClean="0">
                <a:solidFill>
                  <a:schemeClr val="bg1"/>
                </a:solidFill>
              </a:rPr>
              <a:t>sandi</a:t>
            </a:r>
            <a:r>
              <a:rPr lang="en-US" sz="1600" dirty="0" smtClean="0">
                <a:solidFill>
                  <a:schemeClr val="bg1"/>
                </a:solidFill>
              </a:rPr>
              <a:t> (</a:t>
            </a:r>
            <a:r>
              <a:rPr lang="en-US" sz="1600" dirty="0" err="1" smtClean="0">
                <a:solidFill>
                  <a:schemeClr val="bg1"/>
                </a:solidFill>
              </a:rPr>
              <a:t>bcrypt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atau</a:t>
            </a:r>
            <a:r>
              <a:rPr lang="en-US" sz="1600" dirty="0" smtClean="0">
                <a:solidFill>
                  <a:schemeClr val="bg1"/>
                </a:solidFill>
              </a:rPr>
              <a:t> Argon2)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smtClean="0">
                <a:solidFill>
                  <a:schemeClr val="bg1"/>
                </a:solidFill>
              </a:rPr>
              <a:t>Logging, </a:t>
            </a:r>
            <a:r>
              <a:rPr lang="en-US" sz="1600" dirty="0" err="1" smtClean="0">
                <a:solidFill>
                  <a:schemeClr val="bg1"/>
                </a:solidFill>
              </a:rPr>
              <a:t>pemantauan</a:t>
            </a:r>
            <a:r>
              <a:rPr lang="en-US" sz="1600" dirty="0" smtClean="0">
                <a:solidFill>
                  <a:schemeClr val="bg1"/>
                </a:solidFill>
              </a:rPr>
              <a:t>, </a:t>
            </a:r>
            <a:r>
              <a:rPr lang="en-US" sz="1600" dirty="0" err="1" smtClean="0">
                <a:solidFill>
                  <a:schemeClr val="bg1"/>
                </a:solidFill>
              </a:rPr>
              <a:t>kebijakan</a:t>
            </a:r>
            <a:r>
              <a:rPr lang="en-US" sz="1600" dirty="0" smtClean="0">
                <a:solidFill>
                  <a:schemeClr val="bg1"/>
                </a:solidFill>
              </a:rPr>
              <a:t> data </a:t>
            </a:r>
            <a:r>
              <a:rPr lang="en-US" sz="1600" dirty="0" err="1" smtClean="0">
                <a:solidFill>
                  <a:schemeClr val="bg1"/>
                </a:solidFill>
              </a:rPr>
              <a:t>pribadi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334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105"/>
            <a:ext cx="990600" cy="999187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228600"/>
            <a:ext cx="852311" cy="838200"/>
          </a:xfrm>
          <a:prstGeom prst="rect">
            <a:avLst/>
          </a:prstGeom>
        </p:spPr>
      </p:pic>
      <p:sp>
        <p:nvSpPr>
          <p:cNvPr id="4" name="Text 2"/>
          <p:cNvSpPr txBox="1">
            <a:spLocks/>
          </p:cNvSpPr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r>
              <a:rPr lang="nl-NL" sz="3200" dirty="0" smtClean="0"/>
              <a:t>Kesimpulan </a:t>
            </a:r>
            <a:endParaRPr lang="nl-NL" sz="3200" dirty="0"/>
          </a:p>
        </p:txBody>
      </p:sp>
      <p:sp>
        <p:nvSpPr>
          <p:cNvPr id="2" name="Rectangle 1"/>
          <p:cNvSpPr/>
          <p:nvPr/>
        </p:nvSpPr>
        <p:spPr>
          <a:xfrm>
            <a:off x="457200" y="2771775"/>
            <a:ext cx="7010400" cy="2267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atau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tinggi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4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sedang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rendah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Injeksi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SQL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XSS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tertangani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baik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Kelemahan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utama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Terapkan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amankan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database,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lengkapi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perlindungan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rantai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pasok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audit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berkala</a:t>
            </a:r>
            <a:endParaRPr lang="en-US" dirty="0"/>
          </a:p>
          <a:p>
            <a:pPr>
              <a:spcAft>
                <a:spcPts val="800"/>
              </a:spcAft>
              <a:buSzPct val="100000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974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105"/>
            <a:ext cx="990600" cy="999187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228600"/>
            <a:ext cx="852311" cy="838200"/>
          </a:xfrm>
          <a:prstGeom prst="rect">
            <a:avLst/>
          </a:prstGeom>
        </p:spPr>
      </p:pic>
      <p:sp>
        <p:nvSpPr>
          <p:cNvPr id="4" name="Text 2"/>
          <p:cNvSpPr txBox="1">
            <a:spLocks/>
          </p:cNvSpPr>
          <p:nvPr/>
        </p:nvSpPr>
        <p:spPr>
          <a:xfrm>
            <a:off x="485775" y="3124200"/>
            <a:ext cx="8229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/>
            <a:r>
              <a:rPr lang="nl-NL" sz="3200" dirty="0" smtClean="0"/>
              <a:t>Terima kasih</a:t>
            </a: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2553351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</TotalTime>
  <Words>814</Words>
  <Application>Microsoft Office PowerPoint</Application>
  <PresentationFormat>On-screen Show (4:3)</PresentationFormat>
  <Paragraphs>156</Paragraphs>
  <Slides>15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Analisis Kerentanan dan Keamanan Website</vt:lpstr>
      <vt:lpstr>Tujuan dan ringkasan eksekutif</vt:lpstr>
      <vt:lpstr>Ruang lingkup dan metodologi</vt:lpstr>
      <vt:lpstr>Arsitektur dan permukaan serangan </vt:lpstr>
      <vt:lpstr>Ringkasan delapan temuan </vt:lpstr>
      <vt:lpstr>Temuan 1 dan 2 : akses dan header</vt:lpstr>
      <vt:lpstr>Temuan 3 dan 4 : konfigurasi</vt:lpstr>
      <vt:lpstr>Temuan 5 dan 6 : rantai pasok dan beban</vt:lpstr>
      <vt:lpstr>Temuan 7 dan 8 : data dan dependensi</vt:lpstr>
      <vt:lpstr>PowerPoint Presentation</vt:lpstr>
      <vt:lpstr>PowerPoint Presentation</vt:lpstr>
      <vt:lpstr>PowerPoint Presentation</vt:lpstr>
      <vt:lpstr>Rekomendasi berdasarkan prioritas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Kerentanan dan Keamanan Website</dc:title>
  <dc:creator>akhmad arjito</dc:creator>
  <cp:lastModifiedBy>akhmad arjito</cp:lastModifiedBy>
  <cp:revision>8</cp:revision>
  <dcterms:created xsi:type="dcterms:W3CDTF">2026-10-26T07:50:28Z</dcterms:created>
  <dcterms:modified xsi:type="dcterms:W3CDTF">2026-10-26T09:20:27Z</dcterms:modified>
</cp:coreProperties>
</file>